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8" r:id="rId1"/>
  </p:sldMasterIdLst>
  <p:sldIdLst>
    <p:sldId id="256" r:id="rId2"/>
    <p:sldId id="260" r:id="rId3"/>
    <p:sldId id="258" r:id="rId4"/>
    <p:sldId id="259" r:id="rId5"/>
    <p:sldId id="261" r:id="rId6"/>
    <p:sldId id="262" r:id="rId7"/>
    <p:sldId id="263" r:id="rId8"/>
    <p:sldId id="264" r:id="rId9"/>
    <p:sldId id="275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4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821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1634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486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537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513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05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8/18/2016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8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284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084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64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473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50.png"/><Relationship Id="rId7" Type="http://schemas.openxmlformats.org/officeDocument/2006/relationships/image" Target="../media/image35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41.png"/><Relationship Id="rId5" Type="http://schemas.openxmlformats.org/officeDocument/2006/relationships/image" Target="../media/image37.png"/><Relationship Id="rId10" Type="http://schemas.openxmlformats.org/officeDocument/2006/relationships/image" Target="../media/image40.png"/><Relationship Id="rId4" Type="http://schemas.openxmlformats.org/officeDocument/2006/relationships/image" Target="../media/image36.png"/><Relationship Id="rId9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7.png"/><Relationship Id="rId7" Type="http://schemas.openxmlformats.org/officeDocument/2006/relationships/image" Target="../media/image4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8.png"/><Relationship Id="rId5" Type="http://schemas.openxmlformats.org/officeDocument/2006/relationships/image" Target="../media/image43.png"/><Relationship Id="rId10" Type="http://schemas.openxmlformats.org/officeDocument/2006/relationships/image" Target="../media/image47.png"/><Relationship Id="rId4" Type="http://schemas.openxmlformats.org/officeDocument/2006/relationships/image" Target="../media/image42.png"/><Relationship Id="rId9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RISCO e RETORNO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FINANÇAS CORPORATIVAS</a:t>
            </a:r>
          </a:p>
          <a:p>
            <a:r>
              <a:rPr lang="pt-BR" dirty="0"/>
              <a:t>Ana Carolina </a:t>
            </a:r>
            <a:r>
              <a:rPr lang="pt-BR" dirty="0" err="1"/>
              <a:t>rosolen</a:t>
            </a:r>
            <a:r>
              <a:rPr lang="pt-BR" dirty="0"/>
              <a:t> de arruda</a:t>
            </a:r>
          </a:p>
        </p:txBody>
      </p:sp>
    </p:spTree>
    <p:extLst>
      <p:ext uri="{BB962C8B-B14F-4D97-AF65-F5344CB8AC3E}">
        <p14:creationId xmlns:p14="http://schemas.microsoft.com/office/powerpoint/2010/main" val="1643792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Bibliografia utilizada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4700" y="2181225"/>
            <a:ext cx="1788836" cy="2398439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5207" y="3380444"/>
            <a:ext cx="1315286" cy="1770197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0459" y="2519009"/>
            <a:ext cx="1300163" cy="1733550"/>
          </a:xfrm>
          <a:prstGeom prst="rect">
            <a:avLst/>
          </a:prstGeom>
        </p:spPr>
      </p:pic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2736616" y="2504617"/>
            <a:ext cx="2838541" cy="57876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Calibri" panose="020F0502020204030204" pitchFamily="34" charset="0"/>
              <a:buNone/>
            </a:pPr>
            <a:r>
              <a:rPr lang="pt-BR" sz="2400" dirty="0"/>
              <a:t>Capítulo 10 – Risco e Retorno. </a:t>
            </a:r>
          </a:p>
          <a:p>
            <a:pPr marL="0" indent="0" algn="just">
              <a:buFont typeface="Calibri" panose="020F0502020204030204" pitchFamily="34" charset="0"/>
              <a:buNone/>
            </a:pPr>
            <a:r>
              <a:rPr lang="pt-BR" sz="2400" dirty="0"/>
              <a:t>Finanças Corporativas. ASSAF NETO, 5ª Ed.  São Paulo: Atlas, 2010. 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8760" y="4336360"/>
            <a:ext cx="1296920" cy="1733550"/>
          </a:xfrm>
          <a:prstGeom prst="rect">
            <a:avLst/>
          </a:prstGeom>
        </p:spPr>
      </p:pic>
      <p:sp>
        <p:nvSpPr>
          <p:cNvPr id="10" name="Retângulo 9"/>
          <p:cNvSpPr/>
          <p:nvPr/>
        </p:nvSpPr>
        <p:spPr>
          <a:xfrm>
            <a:off x="5994400" y="1828800"/>
            <a:ext cx="5676900" cy="44323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Conteúdo 2"/>
          <p:cNvSpPr txBox="1">
            <a:spLocks/>
          </p:cNvSpPr>
          <p:nvPr/>
        </p:nvSpPr>
        <p:spPr>
          <a:xfrm>
            <a:off x="7660622" y="1936750"/>
            <a:ext cx="3756606" cy="57876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Calibri" panose="020F0502020204030204" pitchFamily="34" charset="0"/>
              <a:buNone/>
            </a:pPr>
            <a:r>
              <a:rPr lang="pt-BR" sz="2400" dirty="0">
                <a:solidFill>
                  <a:schemeClr val="accent1"/>
                </a:solidFill>
              </a:rPr>
              <a:t>Bibliografias complementares</a:t>
            </a:r>
          </a:p>
        </p:txBody>
      </p:sp>
    </p:spTree>
    <p:extLst>
      <p:ext uri="{BB962C8B-B14F-4D97-AF65-F5344CB8AC3E}">
        <p14:creationId xmlns:p14="http://schemas.microsoft.com/office/powerpoint/2010/main" val="3934569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Decisões fundamentais das finanças corporativas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521804" y="2099476"/>
            <a:ext cx="3162300" cy="5943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accent2">
                    <a:lumMod val="50000"/>
                  </a:schemeClr>
                </a:solidFill>
              </a:rPr>
              <a:t>Decisões de investimento</a:t>
            </a:r>
          </a:p>
        </p:txBody>
      </p:sp>
      <p:sp>
        <p:nvSpPr>
          <p:cNvPr id="7" name="Retângulo 6"/>
          <p:cNvSpPr/>
          <p:nvPr/>
        </p:nvSpPr>
        <p:spPr>
          <a:xfrm>
            <a:off x="521804" y="3086487"/>
            <a:ext cx="3162300" cy="5943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accent2">
                    <a:lumMod val="50000"/>
                  </a:schemeClr>
                </a:solidFill>
              </a:rPr>
              <a:t>Decisões de financiamento</a:t>
            </a:r>
          </a:p>
        </p:txBody>
      </p:sp>
      <p:sp>
        <p:nvSpPr>
          <p:cNvPr id="8" name="Retângulo 7"/>
          <p:cNvSpPr/>
          <p:nvPr/>
        </p:nvSpPr>
        <p:spPr>
          <a:xfrm>
            <a:off x="521804" y="4111156"/>
            <a:ext cx="3162300" cy="5943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accent2">
                    <a:lumMod val="50000"/>
                  </a:schemeClr>
                </a:solidFill>
              </a:rPr>
              <a:t>Decisões de dividendos</a:t>
            </a:r>
          </a:p>
        </p:txBody>
      </p:sp>
      <p:sp>
        <p:nvSpPr>
          <p:cNvPr id="9" name="Retângulo 8"/>
          <p:cNvSpPr/>
          <p:nvPr/>
        </p:nvSpPr>
        <p:spPr>
          <a:xfrm>
            <a:off x="521804" y="5116996"/>
            <a:ext cx="3162300" cy="5943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accent2">
                    <a:lumMod val="50000"/>
                  </a:schemeClr>
                </a:solidFill>
              </a:rPr>
              <a:t>Decisões de curto prazo</a:t>
            </a:r>
          </a:p>
        </p:txBody>
      </p:sp>
      <p:cxnSp>
        <p:nvCxnSpPr>
          <p:cNvPr id="11" name="Conector de Seta Reta 10"/>
          <p:cNvCxnSpPr>
            <a:stCxn id="4" idx="3"/>
            <a:endCxn id="19" idx="1"/>
          </p:cNvCxnSpPr>
          <p:nvPr/>
        </p:nvCxnSpPr>
        <p:spPr>
          <a:xfrm flipV="1">
            <a:off x="3684104" y="2396548"/>
            <a:ext cx="674536" cy="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7" idx="3"/>
            <a:endCxn id="20" idx="1"/>
          </p:cNvCxnSpPr>
          <p:nvPr/>
        </p:nvCxnSpPr>
        <p:spPr>
          <a:xfrm>
            <a:off x="3684104" y="3383667"/>
            <a:ext cx="674536" cy="5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3"/>
            <a:endCxn id="21" idx="1"/>
          </p:cNvCxnSpPr>
          <p:nvPr/>
        </p:nvCxnSpPr>
        <p:spPr>
          <a:xfrm>
            <a:off x="3684104" y="4408336"/>
            <a:ext cx="6745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3"/>
            <a:endCxn id="22" idx="1"/>
          </p:cNvCxnSpPr>
          <p:nvPr/>
        </p:nvCxnSpPr>
        <p:spPr>
          <a:xfrm>
            <a:off x="3684104" y="5414176"/>
            <a:ext cx="674536" cy="1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4358640" y="2042605"/>
            <a:ext cx="5434717" cy="707886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Qual deve ser a estratégia de investimento da empresa?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358640" y="3034971"/>
            <a:ext cx="5434717" cy="707886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Como devem ser levantados os recursos para financiar os investimentos escolhidos?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358640" y="4054393"/>
            <a:ext cx="5434717" cy="707886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O que a empresa deve fazer com o lucro gerado nas suas operações?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358640" y="5062220"/>
            <a:ext cx="5434717" cy="707886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Qual o fluxo de caixa a curto prazo necessário para que a empresa pague suas contas?</a:t>
            </a:r>
          </a:p>
        </p:txBody>
      </p:sp>
      <p:sp>
        <p:nvSpPr>
          <p:cNvPr id="50" name="Chave Direita 49"/>
          <p:cNvSpPr/>
          <p:nvPr/>
        </p:nvSpPr>
        <p:spPr>
          <a:xfrm>
            <a:off x="9924553" y="1881483"/>
            <a:ext cx="437322" cy="405516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CaixaDeTexto 50"/>
          <p:cNvSpPr txBox="1"/>
          <p:nvPr/>
        </p:nvSpPr>
        <p:spPr>
          <a:xfrm>
            <a:off x="10361875" y="3662843"/>
            <a:ext cx="1432560" cy="492443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600" dirty="0"/>
              <a:t>FUTURO</a:t>
            </a:r>
          </a:p>
        </p:txBody>
      </p:sp>
    </p:spTree>
    <p:extLst>
      <p:ext uri="{BB962C8B-B14F-4D97-AF65-F5344CB8AC3E}">
        <p14:creationId xmlns:p14="http://schemas.microsoft.com/office/powerpoint/2010/main" val="292199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9" grpId="0" animBg="1"/>
      <p:bldP spid="20" grpId="0" animBg="1"/>
      <p:bldP spid="21" grpId="0" animBg="1"/>
      <p:bldP spid="22" grpId="0" animBg="1"/>
      <p:bldP spid="50" grpId="0" animBg="1"/>
      <p:bldP spid="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Conceito de Risco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084862" y="2545434"/>
            <a:ext cx="3389864" cy="109135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/>
              <a:t>O risco pode ser entendido pela capacidade de se mensurar o estado de incerteza de uma decisão mediante o conhecimento das probabilidades associadas à ocorrência de determinados resultados ou valores. </a:t>
            </a:r>
          </a:p>
        </p:txBody>
      </p:sp>
      <p:sp>
        <p:nvSpPr>
          <p:cNvPr id="5" name="Retângulo 4"/>
          <p:cNvSpPr/>
          <p:nvPr/>
        </p:nvSpPr>
        <p:spPr>
          <a:xfrm>
            <a:off x="450574" y="3636788"/>
            <a:ext cx="2354580" cy="5943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600" dirty="0">
                <a:solidFill>
                  <a:schemeClr val="accent2">
                    <a:lumMod val="50000"/>
                  </a:schemeClr>
                </a:solidFill>
              </a:rPr>
              <a:t>Decisão</a:t>
            </a:r>
          </a:p>
        </p:txBody>
      </p:sp>
      <p:grpSp>
        <p:nvGrpSpPr>
          <p:cNvPr id="6" name="Agrupar 5"/>
          <p:cNvGrpSpPr/>
          <p:nvPr/>
        </p:nvGrpSpPr>
        <p:grpSpPr>
          <a:xfrm>
            <a:off x="2805154" y="2888590"/>
            <a:ext cx="1751441" cy="1045378"/>
            <a:chOff x="2805154" y="2888590"/>
            <a:chExt cx="1751441" cy="1045378"/>
          </a:xfrm>
        </p:grpSpPr>
        <p:cxnSp>
          <p:nvCxnSpPr>
            <p:cNvPr id="10" name="Conector de Seta Reta 9"/>
            <p:cNvCxnSpPr>
              <a:stCxn id="5" idx="3"/>
            </p:cNvCxnSpPr>
            <p:nvPr/>
          </p:nvCxnSpPr>
          <p:spPr>
            <a:xfrm flipV="1">
              <a:off x="2805154" y="3353358"/>
              <a:ext cx="1120004" cy="5806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Imagem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13670" y="2888590"/>
              <a:ext cx="542925" cy="571500"/>
            </a:xfrm>
            <a:prstGeom prst="rect">
              <a:avLst/>
            </a:prstGeom>
          </p:spPr>
        </p:pic>
      </p:grpSp>
      <p:grpSp>
        <p:nvGrpSpPr>
          <p:cNvPr id="4" name="Agrupar 3"/>
          <p:cNvGrpSpPr/>
          <p:nvPr/>
        </p:nvGrpSpPr>
        <p:grpSpPr>
          <a:xfrm>
            <a:off x="2805154" y="2445040"/>
            <a:ext cx="1159598" cy="1488928"/>
            <a:chOff x="2805154" y="2445040"/>
            <a:chExt cx="1159598" cy="1488928"/>
          </a:xfrm>
        </p:grpSpPr>
        <p:cxnSp>
          <p:nvCxnSpPr>
            <p:cNvPr id="9" name="Conector de Seta Reta 8"/>
            <p:cNvCxnSpPr>
              <a:stCxn id="5" idx="3"/>
            </p:cNvCxnSpPr>
            <p:nvPr/>
          </p:nvCxnSpPr>
          <p:spPr>
            <a:xfrm flipV="1">
              <a:off x="2805154" y="2972384"/>
              <a:ext cx="606962" cy="9615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Imagem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12302" y="2445040"/>
              <a:ext cx="552450" cy="590550"/>
            </a:xfrm>
            <a:prstGeom prst="rect">
              <a:avLst/>
            </a:prstGeom>
          </p:spPr>
        </p:pic>
      </p:grpSp>
      <p:grpSp>
        <p:nvGrpSpPr>
          <p:cNvPr id="7" name="Agrupar 6"/>
          <p:cNvGrpSpPr/>
          <p:nvPr/>
        </p:nvGrpSpPr>
        <p:grpSpPr>
          <a:xfrm>
            <a:off x="2805154" y="3552869"/>
            <a:ext cx="1923891" cy="561975"/>
            <a:chOff x="2805154" y="3552869"/>
            <a:chExt cx="1923891" cy="561975"/>
          </a:xfrm>
        </p:grpSpPr>
        <p:cxnSp>
          <p:nvCxnSpPr>
            <p:cNvPr id="13" name="Conector de Seta Reta 12"/>
            <p:cNvCxnSpPr>
              <a:stCxn id="5" idx="3"/>
            </p:cNvCxnSpPr>
            <p:nvPr/>
          </p:nvCxnSpPr>
          <p:spPr>
            <a:xfrm flipV="1">
              <a:off x="2805154" y="3917491"/>
              <a:ext cx="1213925" cy="164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" name="Imagem 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48020" y="3552869"/>
              <a:ext cx="581025" cy="561975"/>
            </a:xfrm>
            <a:prstGeom prst="rect">
              <a:avLst/>
            </a:prstGeom>
          </p:spPr>
        </p:pic>
      </p:grpSp>
      <p:grpSp>
        <p:nvGrpSpPr>
          <p:cNvPr id="8" name="Agrupar 7"/>
          <p:cNvGrpSpPr/>
          <p:nvPr/>
        </p:nvGrpSpPr>
        <p:grpSpPr>
          <a:xfrm>
            <a:off x="2805154" y="3933968"/>
            <a:ext cx="1838013" cy="884752"/>
            <a:chOff x="2805154" y="3933968"/>
            <a:chExt cx="1838013" cy="884752"/>
          </a:xfrm>
        </p:grpSpPr>
        <p:cxnSp>
          <p:nvCxnSpPr>
            <p:cNvPr id="16" name="Conector de Seta Reta 15"/>
            <p:cNvCxnSpPr>
              <a:stCxn id="5" idx="3"/>
            </p:cNvCxnSpPr>
            <p:nvPr/>
          </p:nvCxnSpPr>
          <p:spPr>
            <a:xfrm>
              <a:off x="2805154" y="3933968"/>
              <a:ext cx="1120004" cy="4650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Imagem 3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81192" y="4285320"/>
              <a:ext cx="561975" cy="533400"/>
            </a:xfrm>
            <a:prstGeom prst="rect">
              <a:avLst/>
            </a:prstGeom>
          </p:spPr>
        </p:pic>
      </p:grpSp>
      <p:sp>
        <p:nvSpPr>
          <p:cNvPr id="41" name="Retângulo 40"/>
          <p:cNvSpPr/>
          <p:nvPr/>
        </p:nvSpPr>
        <p:spPr>
          <a:xfrm>
            <a:off x="2934095" y="2417163"/>
            <a:ext cx="1982462" cy="323906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" name="Agrupar 10"/>
          <p:cNvGrpSpPr/>
          <p:nvPr/>
        </p:nvGrpSpPr>
        <p:grpSpPr>
          <a:xfrm>
            <a:off x="2805154" y="3933968"/>
            <a:ext cx="1391467" cy="1427677"/>
            <a:chOff x="2805154" y="3933968"/>
            <a:chExt cx="1391467" cy="1427677"/>
          </a:xfrm>
        </p:grpSpPr>
        <p:pic>
          <p:nvPicPr>
            <p:cNvPr id="42" name="Imagem 4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53696" y="4818720"/>
              <a:ext cx="542925" cy="542925"/>
            </a:xfrm>
            <a:prstGeom prst="rect">
              <a:avLst/>
            </a:prstGeom>
          </p:spPr>
        </p:pic>
        <p:cxnSp>
          <p:nvCxnSpPr>
            <p:cNvPr id="50" name="Conector de Seta Reta 49"/>
            <p:cNvCxnSpPr>
              <a:stCxn id="5" idx="3"/>
            </p:cNvCxnSpPr>
            <p:nvPr/>
          </p:nvCxnSpPr>
          <p:spPr>
            <a:xfrm>
              <a:off x="2805154" y="3933968"/>
              <a:ext cx="848542" cy="8585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CaixaDeTexto 61"/>
          <p:cNvSpPr txBox="1"/>
          <p:nvPr/>
        </p:nvSpPr>
        <p:spPr>
          <a:xfrm>
            <a:off x="2773432" y="1879993"/>
            <a:ext cx="2303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Ambiente de Incerteza</a:t>
            </a:r>
          </a:p>
        </p:txBody>
      </p:sp>
      <p:cxnSp>
        <p:nvCxnSpPr>
          <p:cNvPr id="64" name="Conector de Seta Reta 63"/>
          <p:cNvCxnSpPr>
            <a:stCxn id="25" idx="3"/>
          </p:cNvCxnSpPr>
          <p:nvPr/>
        </p:nvCxnSpPr>
        <p:spPr>
          <a:xfrm>
            <a:off x="3964752" y="2740315"/>
            <a:ext cx="1271317" cy="2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/>
          <p:nvPr/>
        </p:nvCxnSpPr>
        <p:spPr>
          <a:xfrm>
            <a:off x="4556595" y="3174340"/>
            <a:ext cx="6382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/>
          <p:nvPr/>
        </p:nvCxnSpPr>
        <p:spPr>
          <a:xfrm flipV="1">
            <a:off x="4757754" y="3829972"/>
            <a:ext cx="437098" cy="4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71"/>
          <p:cNvCxnSpPr/>
          <p:nvPr/>
        </p:nvCxnSpPr>
        <p:spPr>
          <a:xfrm flipV="1">
            <a:off x="4624463" y="4552020"/>
            <a:ext cx="561629" cy="4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de Seta Reta 73"/>
          <p:cNvCxnSpPr/>
          <p:nvPr/>
        </p:nvCxnSpPr>
        <p:spPr>
          <a:xfrm>
            <a:off x="4185341" y="5104121"/>
            <a:ext cx="10007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Agrupar 85"/>
          <p:cNvGrpSpPr/>
          <p:nvPr/>
        </p:nvGrpSpPr>
        <p:grpSpPr>
          <a:xfrm>
            <a:off x="5562643" y="2560775"/>
            <a:ext cx="731986" cy="2783026"/>
            <a:chOff x="5204323" y="2537988"/>
            <a:chExt cx="731986" cy="2783026"/>
          </a:xfrm>
        </p:grpSpPr>
        <p:sp>
          <p:nvSpPr>
            <p:cNvPr id="76" name="CaixaDeTexto 75"/>
            <p:cNvSpPr txBox="1"/>
            <p:nvPr/>
          </p:nvSpPr>
          <p:spPr>
            <a:xfrm>
              <a:off x="5218195" y="2537988"/>
              <a:ext cx="7032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A %</a:t>
              </a:r>
            </a:p>
          </p:txBody>
        </p:sp>
        <p:sp>
          <p:nvSpPr>
            <p:cNvPr id="77" name="CaixaDeTexto 76"/>
            <p:cNvSpPr txBox="1"/>
            <p:nvPr/>
          </p:nvSpPr>
          <p:spPr>
            <a:xfrm>
              <a:off x="5218195" y="2997948"/>
              <a:ext cx="5849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B%</a:t>
              </a:r>
            </a:p>
          </p:txBody>
        </p:sp>
        <p:sp>
          <p:nvSpPr>
            <p:cNvPr id="78" name="CaixaDeTexto 77"/>
            <p:cNvSpPr txBox="1"/>
            <p:nvPr/>
          </p:nvSpPr>
          <p:spPr>
            <a:xfrm>
              <a:off x="5218194" y="3636788"/>
              <a:ext cx="6859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C%</a:t>
              </a:r>
            </a:p>
          </p:txBody>
        </p:sp>
        <p:sp>
          <p:nvSpPr>
            <p:cNvPr id="79" name="CaixaDeTexto 78"/>
            <p:cNvSpPr txBox="1"/>
            <p:nvPr/>
          </p:nvSpPr>
          <p:spPr>
            <a:xfrm>
              <a:off x="5218195" y="4323608"/>
              <a:ext cx="7181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D%</a:t>
              </a:r>
            </a:p>
          </p:txBody>
        </p:sp>
        <p:sp>
          <p:nvSpPr>
            <p:cNvPr id="80" name="CaixaDeTexto 79"/>
            <p:cNvSpPr txBox="1"/>
            <p:nvPr/>
          </p:nvSpPr>
          <p:spPr>
            <a:xfrm>
              <a:off x="5204323" y="4859349"/>
              <a:ext cx="5988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E%</a:t>
              </a:r>
            </a:p>
          </p:txBody>
        </p:sp>
      </p:grpSp>
      <p:sp>
        <p:nvSpPr>
          <p:cNvPr id="81" name="Retângulo 80"/>
          <p:cNvSpPr/>
          <p:nvPr/>
        </p:nvSpPr>
        <p:spPr>
          <a:xfrm>
            <a:off x="5455091" y="2417163"/>
            <a:ext cx="756889" cy="323906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2" name="Chave Direita 81"/>
          <p:cNvSpPr/>
          <p:nvPr/>
        </p:nvSpPr>
        <p:spPr>
          <a:xfrm>
            <a:off x="6342816" y="2385503"/>
            <a:ext cx="369091" cy="3239060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CaixaDeTexto 82"/>
          <p:cNvSpPr txBox="1"/>
          <p:nvPr/>
        </p:nvSpPr>
        <p:spPr>
          <a:xfrm>
            <a:off x="6527361" y="3758811"/>
            <a:ext cx="1432560" cy="492443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600" dirty="0"/>
              <a:t>RISCO</a:t>
            </a:r>
          </a:p>
        </p:txBody>
      </p:sp>
      <p:sp>
        <p:nvSpPr>
          <p:cNvPr id="85" name="Arco 84"/>
          <p:cNvSpPr/>
          <p:nvPr/>
        </p:nvSpPr>
        <p:spPr>
          <a:xfrm>
            <a:off x="4556595" y="2083104"/>
            <a:ext cx="1155020" cy="955342"/>
          </a:xfrm>
          <a:prstGeom prst="arc">
            <a:avLst>
              <a:gd name="adj1" fmla="val 15479533"/>
              <a:gd name="adj2" fmla="val 20364849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6926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41" grpId="0" animBg="1"/>
      <p:bldP spid="62" grpId="0"/>
      <p:bldP spid="81" grpId="0" animBg="1"/>
      <p:bldP spid="82" grpId="0" animBg="1"/>
      <p:bldP spid="83" grpId="0"/>
      <p:bldP spid="8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Fundamentos de probabilidade e medidas estatísticas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037166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dirty="0"/>
              <a:t> O conceito básico de probabilidade refere-se à possibilidade, expressa em %,  de ocorrer determinado evento. </a:t>
            </a:r>
          </a:p>
          <a:p>
            <a:pPr algn="just"/>
            <a:r>
              <a:rPr lang="pt-BR" dirty="0"/>
              <a:t>Exemplo: Avaliar o risco de do investimento A e B 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2921000" y="2991274"/>
            <a:ext cx="1596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Investimento 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7035800" y="3042550"/>
            <a:ext cx="1596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Investimento B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279820"/>
              </p:ext>
            </p:extLst>
          </p:nvPr>
        </p:nvGraphicFramePr>
        <p:xfrm>
          <a:off x="1422400" y="3387990"/>
          <a:ext cx="4191000" cy="2219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1400">
                  <a:extLst>
                    <a:ext uri="{9D8B030D-6E8A-4147-A177-3AD203B41FA5}">
                      <a16:colId xmlns:a16="http://schemas.microsoft.com/office/drawing/2014/main" val="218506363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3823186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Possíveis resultados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Probabilidades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934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R$ 600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1853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R$</a:t>
                      </a:r>
                      <a:r>
                        <a:rPr lang="pt-BR" baseline="0" dirty="0"/>
                        <a:t> </a:t>
                      </a:r>
                      <a:r>
                        <a:rPr lang="pt-BR" dirty="0"/>
                        <a:t>650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908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R$ 700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50%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3017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R$ 750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7020933"/>
                  </a:ext>
                </a:extLst>
              </a:tr>
              <a:tr h="34186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R$ 800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5839300"/>
                  </a:ext>
                </a:extLst>
              </a:tr>
            </a:tbl>
          </a:graphicData>
        </a:graphic>
      </p:graphicFrame>
      <p:sp>
        <p:nvSpPr>
          <p:cNvPr id="7" name="Elipse 6"/>
          <p:cNvSpPr/>
          <p:nvPr/>
        </p:nvSpPr>
        <p:spPr>
          <a:xfrm>
            <a:off x="4200218" y="3781214"/>
            <a:ext cx="905181" cy="1855708"/>
          </a:xfrm>
          <a:prstGeom prst="ellipse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4129267" y="5626425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70C0"/>
                </a:solidFill>
                <a:latin typeface="Calibri" panose="020F0502020204030204" pitchFamily="34" charset="0"/>
              </a:rPr>
              <a:t>∑ = 100%</a:t>
            </a:r>
            <a:endParaRPr lang="pt-BR" dirty="0">
              <a:solidFill>
                <a:srgbClr val="0070C0"/>
              </a:solidFill>
            </a:endParaRPr>
          </a:p>
        </p:txBody>
      </p: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139010"/>
              </p:ext>
            </p:extLst>
          </p:nvPr>
        </p:nvGraphicFramePr>
        <p:xfrm>
          <a:off x="5892800" y="3395134"/>
          <a:ext cx="4191000" cy="2219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1400">
                  <a:extLst>
                    <a:ext uri="{9D8B030D-6E8A-4147-A177-3AD203B41FA5}">
                      <a16:colId xmlns:a16="http://schemas.microsoft.com/office/drawing/2014/main" val="218506363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3823186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Possíveis resultados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Probabilidades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934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R$ 300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1853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R$</a:t>
                      </a:r>
                      <a:r>
                        <a:rPr lang="pt-BR" baseline="0" dirty="0"/>
                        <a:t> 500</a:t>
                      </a:r>
                      <a:endParaRPr lang="pt-B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908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R$ 700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40%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3017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R$ 900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7020933"/>
                  </a:ext>
                </a:extLst>
              </a:tr>
              <a:tr h="34186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R$ 1.100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5839300"/>
                  </a:ext>
                </a:extLst>
              </a:tr>
            </a:tbl>
          </a:graphicData>
        </a:graphic>
      </p:graphicFrame>
      <p:sp>
        <p:nvSpPr>
          <p:cNvPr id="10" name="Elipse 9"/>
          <p:cNvSpPr/>
          <p:nvPr/>
        </p:nvSpPr>
        <p:spPr>
          <a:xfrm>
            <a:off x="8672819" y="3781214"/>
            <a:ext cx="905181" cy="1855708"/>
          </a:xfrm>
          <a:prstGeom prst="ellipse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8601868" y="5626425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70C0"/>
                </a:solidFill>
                <a:latin typeface="Calibri" panose="020F0502020204030204" pitchFamily="34" charset="0"/>
              </a:rPr>
              <a:t>∑ = 100%</a:t>
            </a:r>
            <a:endParaRPr lang="pt-BR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071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 animBg="1"/>
      <p:bldP spid="8" grpId="0"/>
      <p:bldP spid="10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Retorno esperado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17686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 A 1ª informação que deve ser calculada é o valor esperado.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 O valor esperado representa uma média dos vários resultados ponderada pela probabilidade atribuída a cada um desses valores, conforme fórmula apresentada a seguir: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701195" y="3448474"/>
                <a:ext cx="4244816" cy="4685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pt-BR" sz="3000" b="0" i="1" dirty="0"/>
                  <a:t>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̅"/>
                        <m:ctrlPr>
                          <a:rPr lang="pt-BR" sz="3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pt-BR" sz="30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pt-BR" sz="3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3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pt-BR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sz="3000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t-BR" sz="3000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pt-BR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sz="3000" b="0" i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t-BR" sz="3000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e>
                    </m:nary>
                  </m:oMath>
                </a14:m>
                <a:endParaRPr lang="pt-BR" sz="3000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195" y="3448474"/>
                <a:ext cx="4244816" cy="468526"/>
              </a:xfrm>
              <a:prstGeom prst="rect">
                <a:avLst/>
              </a:prstGeom>
              <a:blipFill>
                <a:blip r:embed="rId2"/>
                <a:stretch>
                  <a:fillRect l="-5460" t="-24675" b="-493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tângulo 6"/>
          <p:cNvSpPr/>
          <p:nvPr/>
        </p:nvSpPr>
        <p:spPr>
          <a:xfrm>
            <a:off x="3568700" y="3390900"/>
            <a:ext cx="1828800" cy="622300"/>
          </a:xfrm>
          <a:prstGeom prst="rect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3795251" y="4090712"/>
            <a:ext cx="13756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solidFill>
                  <a:srgbClr val="0070C0"/>
                </a:solidFill>
                <a:latin typeface="Calibri" panose="020F0502020204030204" pitchFamily="34" charset="0"/>
              </a:rPr>
              <a:t>Retorno </a:t>
            </a:r>
          </a:p>
          <a:p>
            <a:pPr algn="ctr"/>
            <a:r>
              <a:rPr lang="pt-BR" sz="2400" dirty="0">
                <a:solidFill>
                  <a:srgbClr val="0070C0"/>
                </a:solidFill>
                <a:latin typeface="Calibri" panose="020F0502020204030204" pitchFamily="34" charset="0"/>
              </a:rPr>
              <a:t>esperado</a:t>
            </a:r>
            <a:endParaRPr lang="pt-BR" sz="2400" dirty="0">
              <a:solidFill>
                <a:srgbClr val="0070C0"/>
              </a:solidFill>
            </a:endParaRPr>
          </a:p>
        </p:txBody>
      </p:sp>
      <p:sp>
        <p:nvSpPr>
          <p:cNvPr id="9" name="Elipse 8"/>
          <p:cNvSpPr/>
          <p:nvPr/>
        </p:nvSpPr>
        <p:spPr>
          <a:xfrm>
            <a:off x="6680200" y="3321474"/>
            <a:ext cx="469900" cy="806026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5676156" y="4185074"/>
            <a:ext cx="24779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solidFill>
                  <a:schemeClr val="accent2"/>
                </a:solidFill>
                <a:latin typeface="Calibri" panose="020F0502020204030204" pitchFamily="34" charset="0"/>
              </a:rPr>
              <a:t>Probabilidades de</a:t>
            </a:r>
          </a:p>
          <a:p>
            <a:pPr algn="ctr"/>
            <a:r>
              <a:rPr lang="pt-BR" sz="2400" dirty="0">
                <a:solidFill>
                  <a:schemeClr val="accent2"/>
                </a:solidFill>
                <a:latin typeface="Calibri" panose="020F0502020204030204" pitchFamily="34" charset="0"/>
              </a:rPr>
              <a:t>ocorrência de </a:t>
            </a:r>
          </a:p>
          <a:p>
            <a:pPr algn="ctr"/>
            <a:r>
              <a:rPr lang="pt-BR" sz="2400" dirty="0">
                <a:solidFill>
                  <a:schemeClr val="accent2"/>
                </a:solidFill>
                <a:latin typeface="Calibri" panose="020F0502020204030204" pitchFamily="34" charset="0"/>
              </a:rPr>
              <a:t>cada evento</a:t>
            </a:r>
            <a:endParaRPr lang="pt-BR" sz="2400" dirty="0">
              <a:solidFill>
                <a:schemeClr val="accent2"/>
              </a:solidFill>
            </a:endParaRPr>
          </a:p>
        </p:txBody>
      </p:sp>
      <p:sp>
        <p:nvSpPr>
          <p:cNvPr id="11" name="Retângulo: Cantos Arredondados 10"/>
          <p:cNvSpPr/>
          <p:nvPr/>
        </p:nvSpPr>
        <p:spPr>
          <a:xfrm>
            <a:off x="7430806" y="3270250"/>
            <a:ext cx="515205" cy="863600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/>
          <p:cNvSpPr txBox="1"/>
          <p:nvPr/>
        </p:nvSpPr>
        <p:spPr>
          <a:xfrm>
            <a:off x="7946011" y="3302853"/>
            <a:ext cx="18673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solidFill>
                  <a:srgbClr val="FFC000"/>
                </a:solidFill>
                <a:latin typeface="Calibri" panose="020F0502020204030204" pitchFamily="34" charset="0"/>
              </a:rPr>
              <a:t>Valor de cada</a:t>
            </a:r>
          </a:p>
          <a:p>
            <a:pPr algn="ctr"/>
            <a:r>
              <a:rPr lang="pt-BR" sz="2400" dirty="0">
                <a:solidFill>
                  <a:srgbClr val="FFC000"/>
                </a:solidFill>
                <a:latin typeface="Calibri" panose="020F0502020204030204" pitchFamily="34" charset="0"/>
              </a:rPr>
              <a:t>Resultado </a:t>
            </a:r>
            <a:endParaRPr lang="pt-BR" sz="2400" dirty="0">
              <a:solidFill>
                <a:srgbClr val="FFC000"/>
              </a:solidFill>
            </a:endParaRPr>
          </a:p>
        </p:txBody>
      </p:sp>
      <p:sp>
        <p:nvSpPr>
          <p:cNvPr id="32" name="Elipse 31"/>
          <p:cNvSpPr/>
          <p:nvPr/>
        </p:nvSpPr>
        <p:spPr>
          <a:xfrm>
            <a:off x="5834997" y="3279292"/>
            <a:ext cx="469900" cy="806026"/>
          </a:xfrm>
          <a:prstGeom prst="ellipse">
            <a:avLst/>
          </a:prstGeom>
          <a:noFill/>
          <a:ln w="28575">
            <a:solidFill>
              <a:srgbClr val="7030A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/>
          <p:cNvSpPr txBox="1"/>
          <p:nvPr/>
        </p:nvSpPr>
        <p:spPr>
          <a:xfrm>
            <a:off x="5394292" y="2851723"/>
            <a:ext cx="1464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solidFill>
                  <a:srgbClr val="7030A0"/>
                </a:solidFill>
                <a:latin typeface="Calibri" panose="020F0502020204030204" pitchFamily="34" charset="0"/>
              </a:rPr>
              <a:t>Somatória</a:t>
            </a:r>
            <a:endParaRPr lang="pt-BR" sz="2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363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32" grpId="0" animBg="1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Retorno esperado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77386" y="2207408"/>
            <a:ext cx="1596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Investimento 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8271667" y="2176040"/>
            <a:ext cx="1621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Investimento B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619696"/>
              </p:ext>
            </p:extLst>
          </p:nvPr>
        </p:nvGraphicFramePr>
        <p:xfrm>
          <a:off x="444500" y="2550452"/>
          <a:ext cx="5029200" cy="248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18506363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3823186445"/>
                    </a:ext>
                  </a:extLst>
                </a:gridCol>
                <a:gridCol w="1993900">
                  <a:extLst>
                    <a:ext uri="{9D8B030D-6E8A-4147-A177-3AD203B41FA5}">
                      <a16:colId xmlns:a16="http://schemas.microsoft.com/office/drawing/2014/main" val="38131172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Possíveis resultados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Probabilidades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Valor</a:t>
                      </a:r>
                      <a:r>
                        <a:rPr lang="pt-BR" b="1" baseline="0" dirty="0"/>
                        <a:t> esperado</a:t>
                      </a:r>
                      <a:endParaRPr lang="pt-BR" b="1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934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R$ 600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600*10%</a:t>
                      </a:r>
                      <a:r>
                        <a:rPr lang="pt-BR" baseline="0" dirty="0"/>
                        <a:t> = 60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1853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R$</a:t>
                      </a:r>
                      <a:r>
                        <a:rPr lang="pt-BR" baseline="0" dirty="0"/>
                        <a:t> </a:t>
                      </a:r>
                      <a:r>
                        <a:rPr lang="pt-BR" dirty="0"/>
                        <a:t>650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650*15% = 97,50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908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R$ 700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50%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700*50%</a:t>
                      </a:r>
                      <a:r>
                        <a:rPr lang="pt-BR" baseline="0" dirty="0"/>
                        <a:t> = 350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3017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R$ 750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750*15% = 112,50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7020933"/>
                  </a:ext>
                </a:extLst>
              </a:tr>
              <a:tr h="34186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R$ 800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800*10% = 80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5839300"/>
                  </a:ext>
                </a:extLst>
              </a:tr>
            </a:tbl>
          </a:graphicData>
        </a:graphic>
      </p:graphicFrame>
      <p:sp>
        <p:nvSpPr>
          <p:cNvPr id="12" name="Elipse 11"/>
          <p:cNvSpPr/>
          <p:nvPr/>
        </p:nvSpPr>
        <p:spPr>
          <a:xfrm>
            <a:off x="4568519" y="3183944"/>
            <a:ext cx="905181" cy="1855708"/>
          </a:xfrm>
          <a:prstGeom prst="ellipse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/>
              <p:cNvSpPr txBox="1"/>
              <p:nvPr/>
            </p:nvSpPr>
            <p:spPr>
              <a:xfrm>
                <a:off x="4325021" y="5129247"/>
                <a:ext cx="13921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</m:e>
                      </m:d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𝟕𝟎𝟎</m:t>
                      </m:r>
                    </m:oMath>
                  </m:oMathPara>
                </a14:m>
                <a:endParaRPr lang="pt-BR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CaixaDeTexto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021" y="5129247"/>
                <a:ext cx="1392176" cy="276999"/>
              </a:xfrm>
              <a:prstGeom prst="rect">
                <a:avLst/>
              </a:prstGeom>
              <a:blipFill>
                <a:blip r:embed="rId2"/>
                <a:stretch>
                  <a:fillRect l="-3493" r="-3930" b="-152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ela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023887"/>
              </p:ext>
            </p:extLst>
          </p:nvPr>
        </p:nvGraphicFramePr>
        <p:xfrm>
          <a:off x="6555426" y="2573010"/>
          <a:ext cx="5029200" cy="248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18506363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3823186445"/>
                    </a:ext>
                  </a:extLst>
                </a:gridCol>
                <a:gridCol w="1993900">
                  <a:extLst>
                    <a:ext uri="{9D8B030D-6E8A-4147-A177-3AD203B41FA5}">
                      <a16:colId xmlns:a16="http://schemas.microsoft.com/office/drawing/2014/main" val="38131172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Possíveis resultados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Probabilidades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Valor</a:t>
                      </a:r>
                      <a:r>
                        <a:rPr lang="pt-BR" b="1" baseline="0" dirty="0"/>
                        <a:t> esperado</a:t>
                      </a:r>
                      <a:endParaRPr lang="pt-BR" b="1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934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R$ 300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300*10%</a:t>
                      </a:r>
                      <a:r>
                        <a:rPr lang="pt-BR" baseline="0" dirty="0"/>
                        <a:t> = 30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1853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R$</a:t>
                      </a:r>
                      <a:r>
                        <a:rPr lang="pt-BR" baseline="0" dirty="0"/>
                        <a:t> </a:t>
                      </a:r>
                      <a:r>
                        <a:rPr lang="pt-BR" dirty="0"/>
                        <a:t>500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500*20% = 100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908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R$ 700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40%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700*40%</a:t>
                      </a:r>
                      <a:r>
                        <a:rPr lang="pt-BR" baseline="0" dirty="0"/>
                        <a:t> = 280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3017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R$ 900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900*20% = 180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7020933"/>
                  </a:ext>
                </a:extLst>
              </a:tr>
              <a:tr h="34186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R$ 1100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1100*10% =110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5839300"/>
                  </a:ext>
                </a:extLst>
              </a:tr>
            </a:tbl>
          </a:graphicData>
        </a:graphic>
      </p:graphicFrame>
      <p:sp>
        <p:nvSpPr>
          <p:cNvPr id="17" name="Elipse 16"/>
          <p:cNvSpPr/>
          <p:nvPr/>
        </p:nvSpPr>
        <p:spPr>
          <a:xfrm>
            <a:off x="10679445" y="3234140"/>
            <a:ext cx="905181" cy="1855708"/>
          </a:xfrm>
          <a:prstGeom prst="ellipse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/>
              <p:cNvSpPr txBox="1"/>
              <p:nvPr/>
            </p:nvSpPr>
            <p:spPr>
              <a:xfrm>
                <a:off x="10179750" y="5129247"/>
                <a:ext cx="14354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</m:e>
                      </m:d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𝟕𝟎𝟎</m:t>
                      </m:r>
                    </m:oMath>
                  </m:oMathPara>
                </a14:m>
                <a:endParaRPr lang="pt-BR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CaixaDe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9750" y="5129247"/>
                <a:ext cx="1435457" cy="276999"/>
              </a:xfrm>
              <a:prstGeom prst="rect">
                <a:avLst/>
              </a:prstGeom>
              <a:blipFill>
                <a:blip r:embed="rId3"/>
                <a:stretch>
                  <a:fillRect l="-2553" r="-2553" b="-152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co 10"/>
          <p:cNvSpPr/>
          <p:nvPr/>
        </p:nvSpPr>
        <p:spPr>
          <a:xfrm rot="8452551">
            <a:off x="1225959" y="4526601"/>
            <a:ext cx="1394697" cy="903443"/>
          </a:xfrm>
          <a:prstGeom prst="arc">
            <a:avLst>
              <a:gd name="adj1" fmla="val 14389531"/>
              <a:gd name="adj2" fmla="val 1468267"/>
            </a:avLst>
          </a:prstGeom>
          <a:ln w="38100"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Arco 13"/>
          <p:cNvSpPr/>
          <p:nvPr/>
        </p:nvSpPr>
        <p:spPr>
          <a:xfrm rot="8452551">
            <a:off x="7546650" y="4500739"/>
            <a:ext cx="1394697" cy="903443"/>
          </a:xfrm>
          <a:prstGeom prst="arc">
            <a:avLst>
              <a:gd name="adj1" fmla="val 14389531"/>
              <a:gd name="adj2" fmla="val 1468267"/>
            </a:avLst>
          </a:prstGeom>
          <a:ln w="38100"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606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2" grpId="0" animBg="1"/>
      <p:bldP spid="15" grpId="0"/>
      <p:bldP spid="17" grpId="0" animBg="1"/>
      <p:bldP spid="18" grpId="0"/>
      <p:bldP spid="11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Gráfico de distribuição das probabilidades</a:t>
            </a:r>
          </a:p>
        </p:txBody>
      </p:sp>
      <p:cxnSp>
        <p:nvCxnSpPr>
          <p:cNvPr id="5" name="Conector de Seta Reta 4"/>
          <p:cNvCxnSpPr/>
          <p:nvPr/>
        </p:nvCxnSpPr>
        <p:spPr>
          <a:xfrm flipV="1">
            <a:off x="918029" y="2079171"/>
            <a:ext cx="0" cy="35705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/>
          <p:cNvCxnSpPr/>
          <p:nvPr/>
        </p:nvCxnSpPr>
        <p:spPr>
          <a:xfrm flipV="1">
            <a:off x="562429" y="5315858"/>
            <a:ext cx="4593771" cy="72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rma Livre: Forma 8"/>
          <p:cNvSpPr/>
          <p:nvPr/>
        </p:nvSpPr>
        <p:spPr>
          <a:xfrm>
            <a:off x="2173514" y="2871972"/>
            <a:ext cx="1371600" cy="2451144"/>
          </a:xfrm>
          <a:custGeom>
            <a:avLst/>
            <a:gdLst>
              <a:gd name="connsiteX0" fmla="*/ 0 w 1371600"/>
              <a:gd name="connsiteY0" fmla="*/ 2400344 h 2451144"/>
              <a:gd name="connsiteX1" fmla="*/ 660400 w 1371600"/>
              <a:gd name="connsiteY1" fmla="*/ 44 h 2451144"/>
              <a:gd name="connsiteX2" fmla="*/ 1371600 w 1371600"/>
              <a:gd name="connsiteY2" fmla="*/ 2451144 h 2451144"/>
              <a:gd name="connsiteX3" fmla="*/ 1371600 w 1371600"/>
              <a:gd name="connsiteY3" fmla="*/ 2451144 h 2451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71600" h="2451144">
                <a:moveTo>
                  <a:pt x="0" y="2400344"/>
                </a:moveTo>
                <a:cubicBezTo>
                  <a:pt x="215900" y="1195960"/>
                  <a:pt x="431800" y="-8423"/>
                  <a:pt x="660400" y="44"/>
                </a:cubicBezTo>
                <a:cubicBezTo>
                  <a:pt x="889000" y="8511"/>
                  <a:pt x="1371600" y="2451144"/>
                  <a:pt x="1371600" y="2451144"/>
                </a:cubicBezTo>
                <a:lnTo>
                  <a:pt x="1371600" y="2451144"/>
                </a:ln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Forma Livre: Forma 9"/>
          <p:cNvSpPr/>
          <p:nvPr/>
        </p:nvSpPr>
        <p:spPr>
          <a:xfrm>
            <a:off x="1462314" y="4299828"/>
            <a:ext cx="2895600" cy="1016030"/>
          </a:xfrm>
          <a:custGeom>
            <a:avLst/>
            <a:gdLst>
              <a:gd name="connsiteX0" fmla="*/ 0 w 2895600"/>
              <a:gd name="connsiteY0" fmla="*/ 1016030 h 1016030"/>
              <a:gd name="connsiteX1" fmla="*/ 1384300 w 2895600"/>
              <a:gd name="connsiteY1" fmla="*/ 30 h 1016030"/>
              <a:gd name="connsiteX2" fmla="*/ 2895600 w 2895600"/>
              <a:gd name="connsiteY2" fmla="*/ 977930 h 1016030"/>
              <a:gd name="connsiteX3" fmla="*/ 2895600 w 2895600"/>
              <a:gd name="connsiteY3" fmla="*/ 977930 h 1016030"/>
              <a:gd name="connsiteX4" fmla="*/ 2895600 w 2895600"/>
              <a:gd name="connsiteY4" fmla="*/ 977930 h 101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5600" h="1016030">
                <a:moveTo>
                  <a:pt x="0" y="1016030"/>
                </a:moveTo>
                <a:cubicBezTo>
                  <a:pt x="450850" y="511205"/>
                  <a:pt x="901700" y="6380"/>
                  <a:pt x="1384300" y="30"/>
                </a:cubicBezTo>
                <a:cubicBezTo>
                  <a:pt x="1866900" y="-6320"/>
                  <a:pt x="2895600" y="977930"/>
                  <a:pt x="2895600" y="977930"/>
                </a:cubicBezTo>
                <a:lnTo>
                  <a:pt x="2895600" y="977930"/>
                </a:lnTo>
                <a:lnTo>
                  <a:pt x="2895600" y="977930"/>
                </a:ln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B050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 rot="16200000">
            <a:off x="-159461" y="2837006"/>
            <a:ext cx="1629677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latin typeface="Calibri" panose="020F0502020204030204" pitchFamily="34" charset="0"/>
              </a:rPr>
              <a:t>Probabilidade</a:t>
            </a:r>
            <a:endParaRPr lang="pt-BR" sz="2000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4890121" y="5323116"/>
            <a:ext cx="2448042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latin typeface="Calibri" panose="020F0502020204030204" pitchFamily="34" charset="0"/>
              </a:rPr>
              <a:t>Resultados esperados</a:t>
            </a:r>
            <a:endParaRPr lang="pt-BR" sz="2000" dirty="0"/>
          </a:p>
        </p:txBody>
      </p:sp>
      <p:cxnSp>
        <p:nvCxnSpPr>
          <p:cNvPr id="14" name="Conector reto 13"/>
          <p:cNvCxnSpPr>
            <a:stCxn id="9" idx="1"/>
          </p:cNvCxnSpPr>
          <p:nvPr/>
        </p:nvCxnSpPr>
        <p:spPr>
          <a:xfrm>
            <a:off x="2833914" y="2872016"/>
            <a:ext cx="25400" cy="265115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2910114" y="2802255"/>
            <a:ext cx="1596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Investimento A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3946322" y="4680915"/>
            <a:ext cx="1621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Investimento B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2572216" y="5588727"/>
            <a:ext cx="574196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pt-BR" sz="2000" b="1" dirty="0">
                <a:solidFill>
                  <a:srgbClr val="0070C0"/>
                </a:solidFill>
                <a:latin typeface="Calibri" panose="020F0502020204030204" pitchFamily="34" charset="0"/>
              </a:rPr>
              <a:t>700</a:t>
            </a:r>
            <a:endParaRPr lang="pt-BR" sz="2000" b="1" dirty="0">
              <a:solidFill>
                <a:srgbClr val="0070C0"/>
              </a:solidFill>
            </a:endParaRPr>
          </a:p>
        </p:txBody>
      </p:sp>
      <p:cxnSp>
        <p:nvCxnSpPr>
          <p:cNvPr id="23" name="Conector reto 22"/>
          <p:cNvCxnSpPr/>
          <p:nvPr/>
        </p:nvCxnSpPr>
        <p:spPr>
          <a:xfrm>
            <a:off x="3545114" y="5179787"/>
            <a:ext cx="0" cy="228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/>
          <p:nvPr/>
        </p:nvCxnSpPr>
        <p:spPr>
          <a:xfrm>
            <a:off x="2173514" y="5179787"/>
            <a:ext cx="0" cy="228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3300521" y="5367143"/>
            <a:ext cx="574196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latin typeface="Calibri" panose="020F0502020204030204" pitchFamily="34" charset="0"/>
              </a:rPr>
              <a:t>800</a:t>
            </a:r>
            <a:endParaRPr lang="pt-BR" sz="2000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1929518" y="5367143"/>
            <a:ext cx="574196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latin typeface="Calibri" panose="020F0502020204030204" pitchFamily="34" charset="0"/>
              </a:rPr>
              <a:t>600</a:t>
            </a:r>
            <a:endParaRPr lang="pt-BR" sz="2000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1323184" y="5367143"/>
            <a:ext cx="574196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latin typeface="Calibri" panose="020F0502020204030204" pitchFamily="34" charset="0"/>
              </a:rPr>
              <a:t>300</a:t>
            </a:r>
            <a:endParaRPr lang="pt-BR" sz="20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3874718" y="5381414"/>
            <a:ext cx="574196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latin typeface="Calibri" panose="020F0502020204030204" pitchFamily="34" charset="0"/>
              </a:rPr>
              <a:t>900</a:t>
            </a:r>
            <a:endParaRPr lang="pt-BR" sz="2000" dirty="0"/>
          </a:p>
        </p:txBody>
      </p:sp>
      <p:cxnSp>
        <p:nvCxnSpPr>
          <p:cNvPr id="31" name="Conector reto 30"/>
          <p:cNvCxnSpPr/>
          <p:nvPr/>
        </p:nvCxnSpPr>
        <p:spPr>
          <a:xfrm>
            <a:off x="1612096" y="5208816"/>
            <a:ext cx="0" cy="228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/>
          <p:nvPr/>
        </p:nvCxnSpPr>
        <p:spPr>
          <a:xfrm>
            <a:off x="4161816" y="5208816"/>
            <a:ext cx="0" cy="228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spaço Reservado para Conteúdo 2"/>
          <p:cNvSpPr>
            <a:spLocks noGrp="1"/>
          </p:cNvSpPr>
          <p:nvPr>
            <p:ph idx="1"/>
          </p:nvPr>
        </p:nvSpPr>
        <p:spPr>
          <a:xfrm>
            <a:off x="6908800" y="2222222"/>
            <a:ext cx="4246880" cy="106707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/>
              <a:t> O valor esperado não demonstra o risco associado às propostas;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/>
              <a:t> É necessário conhecer o grau de dispersão do resultados em relação ao valor esperado. </a:t>
            </a:r>
          </a:p>
        </p:txBody>
      </p:sp>
    </p:spTree>
    <p:extLst>
      <p:ext uri="{BB962C8B-B14F-4D97-AF65-F5344CB8AC3E}">
        <p14:creationId xmlns:p14="http://schemas.microsoft.com/office/powerpoint/2010/main" val="413113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8" grpId="0"/>
      <p:bldP spid="19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cxnSp>
        <p:nvCxnSpPr>
          <p:cNvPr id="5" name="Conector de Seta Reta 4"/>
          <p:cNvCxnSpPr/>
          <p:nvPr/>
        </p:nvCxnSpPr>
        <p:spPr>
          <a:xfrm flipV="1">
            <a:off x="3753995" y="2529745"/>
            <a:ext cx="0" cy="35705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/>
          <p:cNvCxnSpPr/>
          <p:nvPr/>
        </p:nvCxnSpPr>
        <p:spPr>
          <a:xfrm flipV="1">
            <a:off x="3398395" y="5766432"/>
            <a:ext cx="4593771" cy="72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rma Livre: Forma 6"/>
          <p:cNvSpPr/>
          <p:nvPr/>
        </p:nvSpPr>
        <p:spPr>
          <a:xfrm>
            <a:off x="5009480" y="3322546"/>
            <a:ext cx="1371600" cy="2451144"/>
          </a:xfrm>
          <a:custGeom>
            <a:avLst/>
            <a:gdLst>
              <a:gd name="connsiteX0" fmla="*/ 0 w 1371600"/>
              <a:gd name="connsiteY0" fmla="*/ 2400344 h 2451144"/>
              <a:gd name="connsiteX1" fmla="*/ 660400 w 1371600"/>
              <a:gd name="connsiteY1" fmla="*/ 44 h 2451144"/>
              <a:gd name="connsiteX2" fmla="*/ 1371600 w 1371600"/>
              <a:gd name="connsiteY2" fmla="*/ 2451144 h 2451144"/>
              <a:gd name="connsiteX3" fmla="*/ 1371600 w 1371600"/>
              <a:gd name="connsiteY3" fmla="*/ 2451144 h 2451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71600" h="2451144">
                <a:moveTo>
                  <a:pt x="0" y="2400344"/>
                </a:moveTo>
                <a:cubicBezTo>
                  <a:pt x="215900" y="1195960"/>
                  <a:pt x="431800" y="-8423"/>
                  <a:pt x="660400" y="44"/>
                </a:cubicBezTo>
                <a:cubicBezTo>
                  <a:pt x="889000" y="8511"/>
                  <a:pt x="1371600" y="2451144"/>
                  <a:pt x="1371600" y="2451144"/>
                </a:cubicBezTo>
                <a:lnTo>
                  <a:pt x="1371600" y="2451144"/>
                </a:ln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orma Livre: Forma 7"/>
          <p:cNvSpPr/>
          <p:nvPr/>
        </p:nvSpPr>
        <p:spPr>
          <a:xfrm>
            <a:off x="4298280" y="4750402"/>
            <a:ext cx="2895600" cy="1016030"/>
          </a:xfrm>
          <a:custGeom>
            <a:avLst/>
            <a:gdLst>
              <a:gd name="connsiteX0" fmla="*/ 0 w 2895600"/>
              <a:gd name="connsiteY0" fmla="*/ 1016030 h 1016030"/>
              <a:gd name="connsiteX1" fmla="*/ 1384300 w 2895600"/>
              <a:gd name="connsiteY1" fmla="*/ 30 h 1016030"/>
              <a:gd name="connsiteX2" fmla="*/ 2895600 w 2895600"/>
              <a:gd name="connsiteY2" fmla="*/ 977930 h 1016030"/>
              <a:gd name="connsiteX3" fmla="*/ 2895600 w 2895600"/>
              <a:gd name="connsiteY3" fmla="*/ 977930 h 1016030"/>
              <a:gd name="connsiteX4" fmla="*/ 2895600 w 2895600"/>
              <a:gd name="connsiteY4" fmla="*/ 977930 h 101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5600" h="1016030">
                <a:moveTo>
                  <a:pt x="0" y="1016030"/>
                </a:moveTo>
                <a:cubicBezTo>
                  <a:pt x="450850" y="511205"/>
                  <a:pt x="901700" y="6380"/>
                  <a:pt x="1384300" y="30"/>
                </a:cubicBezTo>
                <a:cubicBezTo>
                  <a:pt x="1866900" y="-6320"/>
                  <a:pt x="2895600" y="977930"/>
                  <a:pt x="2895600" y="977930"/>
                </a:cubicBezTo>
                <a:lnTo>
                  <a:pt x="2895600" y="977930"/>
                </a:lnTo>
                <a:lnTo>
                  <a:pt x="2895600" y="977930"/>
                </a:ln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B050"/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 rot="16200000">
            <a:off x="2676505" y="3287580"/>
            <a:ext cx="1629677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latin typeface="Calibri" panose="020F0502020204030204" pitchFamily="34" charset="0"/>
              </a:rPr>
              <a:t>Probabilidade</a:t>
            </a:r>
            <a:endParaRPr lang="pt-BR" sz="2000" dirty="0"/>
          </a:p>
        </p:txBody>
      </p:sp>
      <p:sp>
        <p:nvSpPr>
          <p:cNvPr id="10" name="CaixaDeTexto 9"/>
          <p:cNvSpPr txBox="1"/>
          <p:nvPr/>
        </p:nvSpPr>
        <p:spPr>
          <a:xfrm>
            <a:off x="7726087" y="5773690"/>
            <a:ext cx="2448042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latin typeface="Calibri" panose="020F0502020204030204" pitchFamily="34" charset="0"/>
              </a:rPr>
              <a:t>Resultados esperados</a:t>
            </a:r>
            <a:endParaRPr lang="pt-BR" sz="2000" dirty="0"/>
          </a:p>
        </p:txBody>
      </p:sp>
      <p:cxnSp>
        <p:nvCxnSpPr>
          <p:cNvPr id="11" name="Conector reto 10"/>
          <p:cNvCxnSpPr>
            <a:stCxn id="7" idx="1"/>
          </p:cNvCxnSpPr>
          <p:nvPr/>
        </p:nvCxnSpPr>
        <p:spPr>
          <a:xfrm>
            <a:off x="5669880" y="3322590"/>
            <a:ext cx="28556" cy="24511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tângulo 24"/>
              <p:cNvSpPr/>
              <p:nvPr/>
            </p:nvSpPr>
            <p:spPr>
              <a:xfrm>
                <a:off x="5099003" y="5804468"/>
                <a:ext cx="11380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i="1" dirty="0"/>
                  <a:t>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̅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</m:oMath>
                </a14:m>
                <a:endParaRPr lang="pt-BR" dirty="0"/>
              </a:p>
            </p:txBody>
          </p:sp>
        </mc:Choice>
        <mc:Fallback>
          <p:sp>
            <p:nvSpPr>
              <p:cNvPr id="25" name="Retângulo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9003" y="5804468"/>
                <a:ext cx="1138004" cy="369332"/>
              </a:xfrm>
              <a:prstGeom prst="rect">
                <a:avLst/>
              </a:prstGeom>
              <a:blipFill>
                <a:blip r:embed="rId2"/>
                <a:stretch>
                  <a:fillRect l="-4278" t="-8197" r="-29412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have Direita 25"/>
          <p:cNvSpPr/>
          <p:nvPr/>
        </p:nvSpPr>
        <p:spPr>
          <a:xfrm rot="16200000">
            <a:off x="5503186" y="2517714"/>
            <a:ext cx="383288" cy="1372500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have Direita 26"/>
          <p:cNvSpPr/>
          <p:nvPr/>
        </p:nvSpPr>
        <p:spPr>
          <a:xfrm rot="16200000">
            <a:off x="5477586" y="1268212"/>
            <a:ext cx="380839" cy="2624202"/>
          </a:xfrm>
          <a:prstGeom prst="rightBrac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/>
          <p:cNvSpPr txBox="1"/>
          <p:nvPr/>
        </p:nvSpPr>
        <p:spPr>
          <a:xfrm>
            <a:off x="4021493" y="2672796"/>
            <a:ext cx="3437096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latin typeface="Calibri" panose="020F0502020204030204" pitchFamily="34" charset="0"/>
              </a:rPr>
              <a:t>Menor dispersão = menor risco</a:t>
            </a:r>
            <a:endParaRPr lang="pt-BR" sz="2000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4107686" y="1987879"/>
            <a:ext cx="3276794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latin typeface="Calibri" panose="020F0502020204030204" pitchFamily="34" charset="0"/>
              </a:rPr>
              <a:t>Maior dispersão = maior risco</a:t>
            </a:r>
            <a:endParaRPr lang="pt-BR" sz="20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6141445" y="4523379"/>
            <a:ext cx="1596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Investimento A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990275" y="5255196"/>
            <a:ext cx="1621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Investimento B</a:t>
            </a:r>
          </a:p>
        </p:txBody>
      </p:sp>
    </p:spTree>
    <p:extLst>
      <p:ext uri="{BB962C8B-B14F-4D97-AF65-F5344CB8AC3E}">
        <p14:creationId xmlns:p14="http://schemas.microsoft.com/office/powerpoint/2010/main" val="2865113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Desvio-padrão</a:t>
            </a:r>
            <a:r>
              <a:rPr lang="pt-BR" dirty="0"/>
              <a:t>  e variância (Risco)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/>
              <p:cNvSpPr txBox="1"/>
              <p:nvPr/>
            </p:nvSpPr>
            <p:spPr>
              <a:xfrm>
                <a:off x="3188652" y="3501715"/>
                <a:ext cx="3293722" cy="1436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  <m:sSup>
                                <m:s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652" y="3501715"/>
                <a:ext cx="3293722" cy="14368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/>
          <p:cNvSpPr/>
          <p:nvPr/>
        </p:nvSpPr>
        <p:spPr>
          <a:xfrm>
            <a:off x="3099752" y="4032835"/>
            <a:ext cx="419100" cy="48260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1097280" y="4082001"/>
            <a:ext cx="2002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solidFill>
                  <a:schemeClr val="accent1"/>
                </a:solidFill>
                <a:latin typeface="Calibri" panose="020F0502020204030204" pitchFamily="34" charset="0"/>
              </a:rPr>
              <a:t>Desvio-padrão</a:t>
            </a:r>
            <a:endParaRPr lang="pt-BR" sz="2400" dirty="0">
              <a:solidFill>
                <a:schemeClr val="accent1"/>
              </a:solidFill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5207952" y="3989316"/>
            <a:ext cx="424987" cy="482600"/>
          </a:xfrm>
          <a:prstGeom prst="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4498714" y="4544018"/>
            <a:ext cx="14976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solidFill>
                  <a:srgbClr val="0070C0"/>
                </a:solidFill>
                <a:latin typeface="Calibri" panose="020F0502020204030204" pitchFamily="34" charset="0"/>
              </a:rPr>
              <a:t>Retorno </a:t>
            </a:r>
          </a:p>
          <a:p>
            <a:pPr algn="ctr"/>
            <a:r>
              <a:rPr lang="pt-BR" sz="2400" dirty="0">
                <a:solidFill>
                  <a:srgbClr val="0070C0"/>
                </a:solidFill>
                <a:latin typeface="Calibri" panose="020F0502020204030204" pitchFamily="34" charset="0"/>
              </a:rPr>
              <a:t>observado</a:t>
            </a:r>
            <a:endParaRPr lang="pt-BR" sz="2400" dirty="0">
              <a:solidFill>
                <a:srgbClr val="0070C0"/>
              </a:solidFill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5830253" y="4002018"/>
            <a:ext cx="439898" cy="482600"/>
          </a:xfrm>
          <a:prstGeom prst="rect">
            <a:avLst/>
          </a:prstGeom>
          <a:noFill/>
          <a:ln w="190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6071707" y="4569422"/>
            <a:ext cx="13469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solidFill>
                  <a:srgbClr val="FFC000"/>
                </a:solidFill>
                <a:latin typeface="Calibri" panose="020F0502020204030204" pitchFamily="34" charset="0"/>
              </a:rPr>
              <a:t>Retorno </a:t>
            </a:r>
          </a:p>
          <a:p>
            <a:pPr algn="ctr"/>
            <a:r>
              <a:rPr lang="pt-BR" sz="2400" dirty="0">
                <a:solidFill>
                  <a:srgbClr val="FFC000"/>
                </a:solidFill>
                <a:latin typeface="Calibri" panose="020F0502020204030204" pitchFamily="34" charset="0"/>
              </a:rPr>
              <a:t>esperado</a:t>
            </a:r>
            <a:endParaRPr lang="pt-BR" sz="24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aixaDeTexto 11"/>
              <p:cNvSpPr txBox="1"/>
              <p:nvPr/>
            </p:nvSpPr>
            <p:spPr>
              <a:xfrm>
                <a:off x="9579941" y="4118445"/>
                <a:ext cx="14691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𝐴𝑅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12" name="CaixaDe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9941" y="4118445"/>
                <a:ext cx="1469120" cy="369332"/>
              </a:xfrm>
              <a:prstGeom prst="rect">
                <a:avLst/>
              </a:prstGeom>
              <a:blipFill>
                <a:blip r:embed="rId3"/>
                <a:stretch>
                  <a:fillRect l="-4564" t="-1667" r="-1245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aixaDeTexto 12"/>
          <p:cNvSpPr txBox="1"/>
          <p:nvPr/>
        </p:nvSpPr>
        <p:spPr>
          <a:xfrm>
            <a:off x="8068049" y="4118445"/>
            <a:ext cx="1324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solidFill>
                  <a:schemeClr val="accent1"/>
                </a:solidFill>
                <a:latin typeface="Calibri" panose="020F0502020204030204" pitchFamily="34" charset="0"/>
              </a:rPr>
              <a:t>Variância</a:t>
            </a:r>
            <a:endParaRPr lang="pt-BR" sz="2400" dirty="0">
              <a:solidFill>
                <a:schemeClr val="accent1"/>
              </a:solidFill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9579941" y="4072591"/>
            <a:ext cx="697671" cy="48260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/>
          <p:cNvSpPr/>
          <p:nvPr/>
        </p:nvSpPr>
        <p:spPr>
          <a:xfrm>
            <a:off x="4474416" y="3989315"/>
            <a:ext cx="424987" cy="472133"/>
          </a:xfrm>
          <a:prstGeom prst="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596932" y="3091218"/>
            <a:ext cx="2036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solidFill>
                  <a:srgbClr val="7030A0"/>
                </a:solidFill>
                <a:latin typeface="Calibri" panose="020F0502020204030204" pitchFamily="34" charset="0"/>
              </a:rPr>
              <a:t>Probabilidades</a:t>
            </a:r>
            <a:endParaRPr lang="pt-BR" sz="2400" dirty="0">
              <a:solidFill>
                <a:srgbClr val="7030A0"/>
              </a:solidFill>
            </a:endParaRPr>
          </a:p>
        </p:txBody>
      </p:sp>
      <p:sp>
        <p:nvSpPr>
          <p:cNvPr id="17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61917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Em termos estatísticos, a fórmula de risco seria:</a:t>
            </a:r>
          </a:p>
        </p:txBody>
      </p:sp>
      <p:sp>
        <p:nvSpPr>
          <p:cNvPr id="18" name="Arco 17"/>
          <p:cNvSpPr/>
          <p:nvPr/>
        </p:nvSpPr>
        <p:spPr>
          <a:xfrm rot="9511506" flipV="1">
            <a:off x="1729805" y="2833260"/>
            <a:ext cx="3951471" cy="1091914"/>
          </a:xfrm>
          <a:prstGeom prst="arc">
            <a:avLst>
              <a:gd name="adj1" fmla="val 13360246"/>
              <a:gd name="adj2" fmla="val 282393"/>
            </a:avLst>
          </a:prstGeom>
          <a:ln w="38100"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Arco 18"/>
          <p:cNvSpPr/>
          <p:nvPr/>
        </p:nvSpPr>
        <p:spPr>
          <a:xfrm rot="11805088" flipH="1" flipV="1">
            <a:off x="5416678" y="2735095"/>
            <a:ext cx="3623506" cy="2507841"/>
          </a:xfrm>
          <a:prstGeom prst="arc">
            <a:avLst>
              <a:gd name="adj1" fmla="val 13360246"/>
              <a:gd name="adj2" fmla="val 20748235"/>
            </a:avLst>
          </a:prstGeom>
          <a:ln w="38100"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/>
          <p:cNvSpPr txBox="1"/>
          <p:nvPr/>
        </p:nvSpPr>
        <p:spPr>
          <a:xfrm>
            <a:off x="5042958" y="2419359"/>
            <a:ext cx="9337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Calibri" panose="020F0502020204030204" pitchFamily="34" charset="0"/>
              </a:rPr>
              <a:t>RISCO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94514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10" grpId="0" animBg="1"/>
      <p:bldP spid="11" grpId="0"/>
      <p:bldP spid="13" grpId="0"/>
      <p:bldP spid="14" grpId="0" animBg="1"/>
      <p:bldP spid="15" grpId="0" animBg="1"/>
      <p:bldP spid="16" grpId="0"/>
      <p:bldP spid="18" grpId="0" animBg="1"/>
      <p:bldP spid="19" grpId="0" animBg="1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Desvio-padrão e variância do investimento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0201488"/>
                  </p:ext>
                </p:extLst>
              </p:nvPr>
            </p:nvGraphicFramePr>
            <p:xfrm>
              <a:off x="444500" y="2550452"/>
              <a:ext cx="10833101" cy="24688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09700">
                      <a:extLst>
                        <a:ext uri="{9D8B030D-6E8A-4147-A177-3AD203B41FA5}">
                          <a16:colId xmlns:a16="http://schemas.microsoft.com/office/drawing/2014/main" val="218506363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3823186445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813117219"/>
                        </a:ext>
                      </a:extLst>
                    </a:gridCol>
                    <a:gridCol w="2146300">
                      <a:extLst>
                        <a:ext uri="{9D8B030D-6E8A-4147-A177-3AD203B41FA5}">
                          <a16:colId xmlns:a16="http://schemas.microsoft.com/office/drawing/2014/main" val="1957583437"/>
                        </a:ext>
                      </a:extLst>
                    </a:gridCol>
                    <a:gridCol w="2019300">
                      <a:extLst>
                        <a:ext uri="{9D8B030D-6E8A-4147-A177-3AD203B41FA5}">
                          <a16:colId xmlns:a16="http://schemas.microsoft.com/office/drawing/2014/main" val="1811234269"/>
                        </a:ext>
                      </a:extLst>
                    </a:gridCol>
                    <a:gridCol w="2413001">
                      <a:extLst>
                        <a:ext uri="{9D8B030D-6E8A-4147-A177-3AD203B41FA5}">
                          <a16:colId xmlns:a16="http://schemas.microsoft.com/office/drawing/2014/main" val="2047869556"/>
                        </a:ext>
                      </a:extLst>
                    </a:gridCol>
                  </a:tblGrid>
                  <a:tr h="598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Possíveis resultados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Probabilidades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Valor</a:t>
                          </a:r>
                          <a:r>
                            <a:rPr lang="pt-BR" b="1" baseline="0" dirty="0"/>
                            <a:t> esperado</a:t>
                          </a:r>
                          <a:endParaRPr lang="pt-BR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pt-BR" sz="18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𝑩</m:t>
                                        </m:r>
                                      </m:sub>
                                    </m:sSub>
                                    <m:r>
                                      <a:rPr lang="pt-BR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pt-BR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sz="18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pt-BR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pt-BR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B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b="1" i="1" smtClean="0">
                                                <a:latin typeface="Cambria Math" panose="02040503050406030204" pitchFamily="18" charset="0"/>
                                              </a:rPr>
                                              <m:t>𝑹</m:t>
                                            </m:r>
                                          </m:e>
                                          <m:sub>
                                            <m:r>
                                              <a:rPr lang="pt-BR" b="1" i="1" smtClean="0">
                                                <a:latin typeface="Cambria Math" panose="02040503050406030204" pitchFamily="18" charset="0"/>
                                              </a:rPr>
                                              <m:t>𝑩</m:t>
                                            </m:r>
                                          </m:sub>
                                        </m:sSub>
                                        <m:r>
                                          <a:rPr lang="pt-BR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pt-B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pt-BR" b="1" i="1" smtClean="0">
                                                <a:latin typeface="Cambria Math" panose="02040503050406030204" pitchFamily="18" charset="0"/>
                                              </a:rPr>
                                              <m:t>𝑹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pt-BR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t-BR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pt-B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sSup>
                                  <m:sSupPr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pt-B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BR" sz="1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pt-B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sub>
                                        </m:sSub>
                                        <m:r>
                                          <a:rPr lang="pt-BR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pt-BR" sz="1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pt-B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t-BR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19348243"/>
                      </a:ext>
                    </a:extLst>
                  </a:tr>
                  <a:tr h="3465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R$ 600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10%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aseline="0" dirty="0"/>
                            <a:t>60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aseline="0" dirty="0"/>
                            <a:t>600 – 700 = - 100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(-100)²</a:t>
                          </a:r>
                          <a:r>
                            <a:rPr lang="pt-BR" baseline="0" dirty="0"/>
                            <a:t> = 10.00</a:t>
                          </a:r>
                          <a:r>
                            <a:rPr lang="pt-BR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10% * 10.000 = 1.000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71853151"/>
                      </a:ext>
                    </a:extLst>
                  </a:tr>
                  <a:tr h="3465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R$</a:t>
                          </a:r>
                          <a:r>
                            <a:rPr lang="pt-BR" baseline="0" dirty="0"/>
                            <a:t> 6</a:t>
                          </a:r>
                          <a:r>
                            <a:rPr lang="pt-BR" dirty="0"/>
                            <a:t>50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15%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97,50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650 – 700 = -</a:t>
                          </a:r>
                          <a:r>
                            <a:rPr lang="pt-BR" baseline="0" dirty="0"/>
                            <a:t> 50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(-50)² = 2.500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15% * 2.500</a:t>
                          </a:r>
                          <a:r>
                            <a:rPr lang="pt-BR" baseline="0" dirty="0"/>
                            <a:t> = 375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8908283"/>
                      </a:ext>
                    </a:extLst>
                  </a:tr>
                  <a:tr h="3465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R$ 700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50%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aseline="0" dirty="0"/>
                            <a:t>350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700 – 700</a:t>
                          </a:r>
                          <a:r>
                            <a:rPr lang="pt-BR" baseline="0" dirty="0"/>
                            <a:t> = 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(0)²</a:t>
                          </a:r>
                          <a:r>
                            <a:rPr lang="pt-BR" baseline="0" dirty="0"/>
                            <a:t> = 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50%</a:t>
                          </a:r>
                          <a:r>
                            <a:rPr lang="pt-BR" baseline="0" dirty="0"/>
                            <a:t> * 0 = 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93017289"/>
                      </a:ext>
                    </a:extLst>
                  </a:tr>
                  <a:tr h="3465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R$ 750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15%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112,50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750 – 700 = 50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(50)</a:t>
                          </a:r>
                          <a:r>
                            <a:rPr lang="pt-BR" baseline="0" dirty="0"/>
                            <a:t> = 2.500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15% * 2.500</a:t>
                          </a:r>
                          <a:r>
                            <a:rPr lang="pt-BR" baseline="0" dirty="0"/>
                            <a:t> = 375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87020933"/>
                      </a:ext>
                    </a:extLst>
                  </a:tr>
                  <a:tr h="3418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R$ 800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10%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80,00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800 – 700 = 100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(100)</a:t>
                          </a:r>
                          <a:r>
                            <a:rPr lang="pt-BR" baseline="0" dirty="0"/>
                            <a:t> = 10.000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10% * 10.000 = 1.000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258393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0201488"/>
                  </p:ext>
                </p:extLst>
              </p:nvPr>
            </p:nvGraphicFramePr>
            <p:xfrm>
              <a:off x="444500" y="2550452"/>
              <a:ext cx="10833101" cy="24688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09700">
                      <a:extLst>
                        <a:ext uri="{9D8B030D-6E8A-4147-A177-3AD203B41FA5}">
                          <a16:colId xmlns:a16="http://schemas.microsoft.com/office/drawing/2014/main" val="218506363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3823186445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813117219"/>
                        </a:ext>
                      </a:extLst>
                    </a:gridCol>
                    <a:gridCol w="2146300">
                      <a:extLst>
                        <a:ext uri="{9D8B030D-6E8A-4147-A177-3AD203B41FA5}">
                          <a16:colId xmlns:a16="http://schemas.microsoft.com/office/drawing/2014/main" val="1957583437"/>
                        </a:ext>
                      </a:extLst>
                    </a:gridCol>
                    <a:gridCol w="2019300">
                      <a:extLst>
                        <a:ext uri="{9D8B030D-6E8A-4147-A177-3AD203B41FA5}">
                          <a16:colId xmlns:a16="http://schemas.microsoft.com/office/drawing/2014/main" val="1811234269"/>
                        </a:ext>
                      </a:extLst>
                    </a:gridCol>
                    <a:gridCol w="2413001">
                      <a:extLst>
                        <a:ext uri="{9D8B030D-6E8A-4147-A177-3AD203B41FA5}">
                          <a16:colId xmlns:a16="http://schemas.microsoft.com/office/drawing/2014/main" val="204786955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Possíveis resultados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Probabilidades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Valor</a:t>
                          </a:r>
                          <a:r>
                            <a:rPr lang="pt-BR" b="1" baseline="0" dirty="0"/>
                            <a:t> esperado</a:t>
                          </a:r>
                          <a:endParaRPr lang="pt-BR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8580" t="-4762" r="-207386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6566" t="-4762" r="-119880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49242" t="-4762" r="-505" b="-300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934824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R$ 600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10%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aseline="0" dirty="0"/>
                            <a:t>60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aseline="0" dirty="0"/>
                            <a:t>600 – 700 = - 100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(-100)²</a:t>
                          </a:r>
                          <a:r>
                            <a:rPr lang="pt-BR" baseline="0" dirty="0"/>
                            <a:t> = 10.00</a:t>
                          </a:r>
                          <a:r>
                            <a:rPr lang="pt-BR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10% * 10.000 = 1.000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7185315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R$</a:t>
                          </a:r>
                          <a:r>
                            <a:rPr lang="pt-BR" baseline="0" dirty="0"/>
                            <a:t> 6</a:t>
                          </a:r>
                          <a:r>
                            <a:rPr lang="pt-BR" dirty="0"/>
                            <a:t>50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15%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97,50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650 – 700 = -</a:t>
                          </a:r>
                          <a:r>
                            <a:rPr lang="pt-BR" baseline="0" dirty="0"/>
                            <a:t> 50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(-50)² = 2.500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15% * 2.500</a:t>
                          </a:r>
                          <a:r>
                            <a:rPr lang="pt-BR" baseline="0" dirty="0"/>
                            <a:t> = 375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890828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R$ 700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50%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aseline="0" dirty="0"/>
                            <a:t>350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700 – 700</a:t>
                          </a:r>
                          <a:r>
                            <a:rPr lang="pt-BR" baseline="0" dirty="0"/>
                            <a:t> = 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(0)²</a:t>
                          </a:r>
                          <a:r>
                            <a:rPr lang="pt-BR" baseline="0" dirty="0"/>
                            <a:t> = 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50%</a:t>
                          </a:r>
                          <a:r>
                            <a:rPr lang="pt-BR" baseline="0" dirty="0"/>
                            <a:t> * 0 = 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930172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R$ 750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15%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112,50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750 – 700 = 50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(50)</a:t>
                          </a:r>
                          <a:r>
                            <a:rPr lang="pt-BR" baseline="0" dirty="0"/>
                            <a:t> = 2.500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15% * 2.500</a:t>
                          </a:r>
                          <a:r>
                            <a:rPr lang="pt-BR" baseline="0" dirty="0"/>
                            <a:t> = 375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8702093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R$ 800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10%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80,00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800 – 700 = 100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(100)</a:t>
                          </a:r>
                          <a:r>
                            <a:rPr lang="pt-BR" baseline="0" dirty="0"/>
                            <a:t> = 10.000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10% * 10.000 = 1.000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258393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2077121" y="2195005"/>
                <a:ext cx="18971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</m:e>
                      </m:d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acc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𝟕𝟎𝟎</m:t>
                      </m:r>
                    </m:oMath>
                  </m:oMathPara>
                </a14:m>
                <a:endParaRPr lang="pt-BR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7121" y="2195005"/>
                <a:ext cx="1897122" cy="276999"/>
              </a:xfrm>
              <a:prstGeom prst="rect">
                <a:avLst/>
              </a:prstGeom>
              <a:blipFill>
                <a:blip r:embed="rId3"/>
                <a:stretch>
                  <a:fillRect l="-1608" t="-4348" r="-1608" b="-152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/>
          <p:cNvSpPr txBox="1"/>
          <p:nvPr/>
        </p:nvSpPr>
        <p:spPr>
          <a:xfrm>
            <a:off x="1974849" y="1825673"/>
            <a:ext cx="1596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Investimento A</a:t>
            </a:r>
          </a:p>
        </p:txBody>
      </p:sp>
      <p:sp>
        <p:nvSpPr>
          <p:cNvPr id="7" name="Elipse 6"/>
          <p:cNvSpPr/>
          <p:nvPr/>
        </p:nvSpPr>
        <p:spPr>
          <a:xfrm>
            <a:off x="10287000" y="3163624"/>
            <a:ext cx="1092199" cy="1855708"/>
          </a:xfrm>
          <a:prstGeom prst="ellipse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/>
              <p:cNvSpPr txBox="1"/>
              <p:nvPr/>
            </p:nvSpPr>
            <p:spPr>
              <a:xfrm>
                <a:off x="9182928" y="5190113"/>
                <a:ext cx="23908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𝑉𝐴𝑅</m:t>
                    </m:r>
                    <m:r>
                      <a:rPr lang="pt-BR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pt-BR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>
                    <a:solidFill>
                      <a:srgbClr val="0070C0"/>
                    </a:solidFill>
                  </a:rPr>
                  <a:t> = 2.750</a:t>
                </a:r>
              </a:p>
            </p:txBody>
          </p:sp>
        </mc:Choice>
        <mc:Fallback xmlns="">
          <p:sp>
            <p:nvSpPr>
              <p:cNvPr id="8" name="CaixaDe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2928" y="5190113"/>
                <a:ext cx="2390847" cy="369332"/>
              </a:xfrm>
              <a:prstGeom prst="rect">
                <a:avLst/>
              </a:prstGeom>
              <a:blipFill>
                <a:blip r:embed="rId4"/>
                <a:stretch>
                  <a:fillRect l="-4326" t="-24590" r="-6361" b="-4918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/>
              <p:cNvSpPr txBox="1"/>
              <p:nvPr/>
            </p:nvSpPr>
            <p:spPr>
              <a:xfrm>
                <a:off x="8808742" y="5632504"/>
                <a:ext cx="2616678" cy="4078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rgbClr val="0070C0"/>
                    </a:solidFill>
                  </a:rPr>
                  <a:t>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pt-BR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pt-BR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2.750</m:t>
                        </m:r>
                      </m:e>
                    </m:rad>
                    <m:r>
                      <a:rPr lang="pt-BR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=52,44</m:t>
                    </m:r>
                  </m:oMath>
                </a14:m>
                <a:endParaRPr lang="pt-BR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CaixaDeTex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742" y="5632504"/>
                <a:ext cx="2616678" cy="407869"/>
              </a:xfrm>
              <a:prstGeom prst="rect">
                <a:avLst/>
              </a:prstGeom>
              <a:blipFill>
                <a:blip r:embed="rId5"/>
                <a:stretch>
                  <a:fillRect t="-14925" b="-432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co 9"/>
          <p:cNvSpPr/>
          <p:nvPr/>
        </p:nvSpPr>
        <p:spPr>
          <a:xfrm rot="9511506">
            <a:off x="1577282" y="2875981"/>
            <a:ext cx="4092591" cy="3173419"/>
          </a:xfrm>
          <a:prstGeom prst="arc">
            <a:avLst>
              <a:gd name="adj1" fmla="val 13360246"/>
              <a:gd name="adj2" fmla="val 282393"/>
            </a:avLst>
          </a:prstGeom>
          <a:ln w="38100"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Arco 10"/>
          <p:cNvSpPr/>
          <p:nvPr/>
        </p:nvSpPr>
        <p:spPr>
          <a:xfrm rot="13683537" flipV="1">
            <a:off x="3841479" y="2098452"/>
            <a:ext cx="1268976" cy="1140651"/>
          </a:xfrm>
          <a:prstGeom prst="arc">
            <a:avLst>
              <a:gd name="adj1" fmla="val 14389531"/>
              <a:gd name="adj2" fmla="val 282393"/>
            </a:avLst>
          </a:prstGeom>
          <a:ln w="38100"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Arco 11"/>
          <p:cNvSpPr/>
          <p:nvPr/>
        </p:nvSpPr>
        <p:spPr>
          <a:xfrm rot="13683537" flipV="1">
            <a:off x="6279117" y="2130213"/>
            <a:ext cx="1268976" cy="1108296"/>
          </a:xfrm>
          <a:prstGeom prst="arc">
            <a:avLst>
              <a:gd name="adj1" fmla="val 14389531"/>
              <a:gd name="adj2" fmla="val 1686154"/>
            </a:avLst>
          </a:prstGeom>
          <a:ln w="38100"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co 12"/>
          <p:cNvSpPr/>
          <p:nvPr/>
        </p:nvSpPr>
        <p:spPr>
          <a:xfrm rot="13683537" flipV="1">
            <a:off x="8383946" y="2142914"/>
            <a:ext cx="1268976" cy="1108296"/>
          </a:xfrm>
          <a:prstGeom prst="arc">
            <a:avLst>
              <a:gd name="adj1" fmla="val 14389531"/>
              <a:gd name="adj2" fmla="val 1686154"/>
            </a:avLst>
          </a:prstGeom>
          <a:ln w="38100"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/>
          <p:cNvSpPr txBox="1"/>
          <p:nvPr/>
        </p:nvSpPr>
        <p:spPr>
          <a:xfrm>
            <a:off x="9244597" y="1987315"/>
            <a:ext cx="1652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accent1"/>
                </a:solidFill>
              </a:rPr>
              <a:t>* Probabilidade</a:t>
            </a:r>
          </a:p>
        </p:txBody>
      </p:sp>
    </p:spTree>
    <p:extLst>
      <p:ext uri="{BB962C8B-B14F-4D97-AF65-F5344CB8AC3E}">
        <p14:creationId xmlns:p14="http://schemas.microsoft.com/office/powerpoint/2010/main" val="14511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Desvio-padrão e variância do investimento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5761281"/>
                  </p:ext>
                </p:extLst>
              </p:nvPr>
            </p:nvGraphicFramePr>
            <p:xfrm>
              <a:off x="444500" y="2550452"/>
              <a:ext cx="10833101" cy="24688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09700">
                      <a:extLst>
                        <a:ext uri="{9D8B030D-6E8A-4147-A177-3AD203B41FA5}">
                          <a16:colId xmlns:a16="http://schemas.microsoft.com/office/drawing/2014/main" val="218506363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3823186445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813117219"/>
                        </a:ext>
                      </a:extLst>
                    </a:gridCol>
                    <a:gridCol w="2146300">
                      <a:extLst>
                        <a:ext uri="{9D8B030D-6E8A-4147-A177-3AD203B41FA5}">
                          <a16:colId xmlns:a16="http://schemas.microsoft.com/office/drawing/2014/main" val="1957583437"/>
                        </a:ext>
                      </a:extLst>
                    </a:gridCol>
                    <a:gridCol w="2019300">
                      <a:extLst>
                        <a:ext uri="{9D8B030D-6E8A-4147-A177-3AD203B41FA5}">
                          <a16:colId xmlns:a16="http://schemas.microsoft.com/office/drawing/2014/main" val="1811234269"/>
                        </a:ext>
                      </a:extLst>
                    </a:gridCol>
                    <a:gridCol w="2413001">
                      <a:extLst>
                        <a:ext uri="{9D8B030D-6E8A-4147-A177-3AD203B41FA5}">
                          <a16:colId xmlns:a16="http://schemas.microsoft.com/office/drawing/2014/main" val="2047869556"/>
                        </a:ext>
                      </a:extLst>
                    </a:gridCol>
                  </a:tblGrid>
                  <a:tr h="598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Possíveis</a:t>
                          </a:r>
                        </a:p>
                        <a:p>
                          <a:pPr algn="ctr"/>
                          <a:r>
                            <a:rPr lang="pt-BR" b="1" dirty="0"/>
                            <a:t>Resultados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Probabilidades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Valor</a:t>
                          </a:r>
                          <a:r>
                            <a:rPr lang="pt-BR" b="1" baseline="0" dirty="0"/>
                            <a:t> esperado</a:t>
                          </a:r>
                          <a:endParaRPr lang="pt-BR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pt-BR" sz="18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𝑩</m:t>
                                        </m:r>
                                      </m:sub>
                                    </m:sSub>
                                    <m:r>
                                      <a:rPr lang="pt-BR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pt-BR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sz="18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pt-BR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pt-BR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B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b="1" i="1" smtClean="0">
                                                <a:latin typeface="Cambria Math" panose="02040503050406030204" pitchFamily="18" charset="0"/>
                                              </a:rPr>
                                              <m:t>𝑹</m:t>
                                            </m:r>
                                          </m:e>
                                          <m:sub>
                                            <m:r>
                                              <a:rPr lang="pt-BR" b="1" i="1" smtClean="0">
                                                <a:latin typeface="Cambria Math" panose="02040503050406030204" pitchFamily="18" charset="0"/>
                                              </a:rPr>
                                              <m:t>𝑩</m:t>
                                            </m:r>
                                          </m:sub>
                                        </m:sSub>
                                        <m:r>
                                          <a:rPr lang="pt-BR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pt-B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pt-BR" b="1" i="1" smtClean="0">
                                                <a:latin typeface="Cambria Math" panose="02040503050406030204" pitchFamily="18" charset="0"/>
                                              </a:rPr>
                                              <m:t>𝑹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pt-BR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t-BR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pt-B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sSup>
                                  <m:sSupPr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pt-B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BR" sz="1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pt-B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sub>
                                        </m:sSub>
                                        <m:r>
                                          <a:rPr lang="pt-BR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pt-BR" sz="1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pt-B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t-BR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19348243"/>
                      </a:ext>
                    </a:extLst>
                  </a:tr>
                  <a:tr h="3465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R$ 300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10%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aseline="0" dirty="0"/>
                            <a:t>30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300 – 700</a:t>
                          </a:r>
                          <a:r>
                            <a:rPr lang="pt-BR" baseline="0" dirty="0"/>
                            <a:t> = - 400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(-400)²</a:t>
                          </a:r>
                          <a:r>
                            <a:rPr lang="pt-BR" baseline="0" dirty="0"/>
                            <a:t> = </a:t>
                          </a:r>
                          <a:r>
                            <a:rPr lang="pt-BR" dirty="0"/>
                            <a:t>160.000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10% * 160.000 = 16.000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71853151"/>
                      </a:ext>
                    </a:extLst>
                  </a:tr>
                  <a:tr h="3465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R$</a:t>
                          </a:r>
                          <a:r>
                            <a:rPr lang="pt-BR" baseline="0" dirty="0"/>
                            <a:t> </a:t>
                          </a:r>
                          <a:r>
                            <a:rPr lang="pt-BR" dirty="0"/>
                            <a:t>500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20%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500 – 700 = -</a:t>
                          </a:r>
                          <a:r>
                            <a:rPr lang="pt-BR" baseline="0" dirty="0"/>
                            <a:t> 200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(-20)² = 40.000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20% * 40.000</a:t>
                          </a:r>
                          <a:r>
                            <a:rPr lang="pt-BR" baseline="0" dirty="0"/>
                            <a:t> = 8.000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8908283"/>
                      </a:ext>
                    </a:extLst>
                  </a:tr>
                  <a:tr h="3465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R$ 700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40%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aseline="0" dirty="0"/>
                            <a:t>280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700 – 700</a:t>
                          </a:r>
                          <a:r>
                            <a:rPr lang="pt-BR" baseline="0" dirty="0"/>
                            <a:t> = 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(0)²</a:t>
                          </a:r>
                          <a:r>
                            <a:rPr lang="pt-BR" baseline="0" dirty="0"/>
                            <a:t> = 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40%</a:t>
                          </a:r>
                          <a:r>
                            <a:rPr lang="pt-BR" baseline="0" dirty="0"/>
                            <a:t> * 0 = 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93017289"/>
                      </a:ext>
                    </a:extLst>
                  </a:tr>
                  <a:tr h="3465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R$ 900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20%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180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900 – 700 = 200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(200)</a:t>
                          </a:r>
                          <a:r>
                            <a:rPr lang="pt-BR" baseline="0" dirty="0"/>
                            <a:t> = 40.000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20% * 40.000</a:t>
                          </a:r>
                          <a:r>
                            <a:rPr lang="pt-BR" baseline="0" dirty="0"/>
                            <a:t> = 8.000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87020933"/>
                      </a:ext>
                    </a:extLst>
                  </a:tr>
                  <a:tr h="3418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R$ 1100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10%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1100 – 700 = 400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(400)</a:t>
                          </a:r>
                          <a:r>
                            <a:rPr lang="pt-BR" baseline="0" dirty="0"/>
                            <a:t> = 160.000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10% * 160.000 = 16.000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258393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5761281"/>
                  </p:ext>
                </p:extLst>
              </p:nvPr>
            </p:nvGraphicFramePr>
            <p:xfrm>
              <a:off x="444500" y="2550452"/>
              <a:ext cx="10833101" cy="24688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09700">
                      <a:extLst>
                        <a:ext uri="{9D8B030D-6E8A-4147-A177-3AD203B41FA5}">
                          <a16:colId xmlns:a16="http://schemas.microsoft.com/office/drawing/2014/main" val="218506363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3823186445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813117219"/>
                        </a:ext>
                      </a:extLst>
                    </a:gridCol>
                    <a:gridCol w="2146300">
                      <a:extLst>
                        <a:ext uri="{9D8B030D-6E8A-4147-A177-3AD203B41FA5}">
                          <a16:colId xmlns:a16="http://schemas.microsoft.com/office/drawing/2014/main" val="1957583437"/>
                        </a:ext>
                      </a:extLst>
                    </a:gridCol>
                    <a:gridCol w="2019300">
                      <a:extLst>
                        <a:ext uri="{9D8B030D-6E8A-4147-A177-3AD203B41FA5}">
                          <a16:colId xmlns:a16="http://schemas.microsoft.com/office/drawing/2014/main" val="1811234269"/>
                        </a:ext>
                      </a:extLst>
                    </a:gridCol>
                    <a:gridCol w="2413001">
                      <a:extLst>
                        <a:ext uri="{9D8B030D-6E8A-4147-A177-3AD203B41FA5}">
                          <a16:colId xmlns:a16="http://schemas.microsoft.com/office/drawing/2014/main" val="204786955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Possíveis</a:t>
                          </a:r>
                        </a:p>
                        <a:p>
                          <a:pPr algn="ctr"/>
                          <a:r>
                            <a:rPr lang="pt-BR" b="1" dirty="0"/>
                            <a:t>Resultados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Probabilidades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="1" dirty="0"/>
                            <a:t>Valor</a:t>
                          </a:r>
                          <a:r>
                            <a:rPr lang="pt-BR" b="1" baseline="0" dirty="0"/>
                            <a:t> esperado</a:t>
                          </a:r>
                          <a:endParaRPr lang="pt-BR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8580" t="-4762" r="-207386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6566" t="-4762" r="-119880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49242" t="-4762" r="-505" b="-300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934824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R$ 300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10%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aseline="0" dirty="0"/>
                            <a:t>30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300 – 700</a:t>
                          </a:r>
                          <a:r>
                            <a:rPr lang="pt-BR" baseline="0" dirty="0"/>
                            <a:t> = - 400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(-400)²</a:t>
                          </a:r>
                          <a:r>
                            <a:rPr lang="pt-BR" baseline="0" dirty="0"/>
                            <a:t> = </a:t>
                          </a:r>
                          <a:r>
                            <a:rPr lang="pt-BR" dirty="0"/>
                            <a:t>160.000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10% * 160.000 = 16.000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7185315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R$</a:t>
                          </a:r>
                          <a:r>
                            <a:rPr lang="pt-BR" baseline="0" dirty="0"/>
                            <a:t> </a:t>
                          </a:r>
                          <a:r>
                            <a:rPr lang="pt-BR" dirty="0"/>
                            <a:t>500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20%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500 – 700 = -</a:t>
                          </a:r>
                          <a:r>
                            <a:rPr lang="pt-BR" baseline="0" dirty="0"/>
                            <a:t> 200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(-20)² = 40.000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20% * 40.000</a:t>
                          </a:r>
                          <a:r>
                            <a:rPr lang="pt-BR" baseline="0" dirty="0"/>
                            <a:t> = 8.000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890828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R$ 700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40%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baseline="0" dirty="0"/>
                            <a:t>280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700 – 700</a:t>
                          </a:r>
                          <a:r>
                            <a:rPr lang="pt-BR" baseline="0" dirty="0"/>
                            <a:t> = 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(0)²</a:t>
                          </a:r>
                          <a:r>
                            <a:rPr lang="pt-BR" baseline="0" dirty="0"/>
                            <a:t> = 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40%</a:t>
                          </a:r>
                          <a:r>
                            <a:rPr lang="pt-BR" baseline="0" dirty="0"/>
                            <a:t> * 0 = 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930172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R$ 900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20%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180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900 – 700 = 200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(200)</a:t>
                          </a:r>
                          <a:r>
                            <a:rPr lang="pt-BR" baseline="0" dirty="0"/>
                            <a:t> = 40.000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20% * 40.000</a:t>
                          </a:r>
                          <a:r>
                            <a:rPr lang="pt-BR" baseline="0" dirty="0"/>
                            <a:t> = 8.000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8702093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R$ 1100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10%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1100 – 700 = 400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(400)</a:t>
                          </a:r>
                          <a:r>
                            <a:rPr lang="pt-BR" baseline="0" dirty="0"/>
                            <a:t> = 160.000</a:t>
                          </a:r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10% * 160.000 = 16.000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258393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2077121" y="2195005"/>
                <a:ext cx="185384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sub>
                          </m:sSub>
                        </m:e>
                      </m:d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acc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𝟕𝟎𝟎</m:t>
                      </m:r>
                    </m:oMath>
                  </m:oMathPara>
                </a14:m>
                <a:endParaRPr lang="pt-BR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7121" y="2195005"/>
                <a:ext cx="1853841" cy="276999"/>
              </a:xfrm>
              <a:prstGeom prst="rect">
                <a:avLst/>
              </a:prstGeom>
              <a:blipFill>
                <a:blip r:embed="rId3"/>
                <a:stretch>
                  <a:fillRect l="-2632" t="-4348" r="-2303" b="-173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/>
          <p:cNvSpPr txBox="1"/>
          <p:nvPr/>
        </p:nvSpPr>
        <p:spPr>
          <a:xfrm>
            <a:off x="1974849" y="1825673"/>
            <a:ext cx="1596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Investimento B</a:t>
            </a:r>
          </a:p>
        </p:txBody>
      </p:sp>
      <p:sp>
        <p:nvSpPr>
          <p:cNvPr id="7" name="Elipse 6"/>
          <p:cNvSpPr/>
          <p:nvPr/>
        </p:nvSpPr>
        <p:spPr>
          <a:xfrm>
            <a:off x="10287000" y="3163624"/>
            <a:ext cx="1092199" cy="1855708"/>
          </a:xfrm>
          <a:prstGeom prst="ellipse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/>
              <p:cNvSpPr txBox="1"/>
              <p:nvPr/>
            </p:nvSpPr>
            <p:spPr>
              <a:xfrm>
                <a:off x="9182928" y="5190113"/>
                <a:ext cx="25463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𝑉𝐴𝑅</m:t>
                    </m:r>
                    <m:r>
                      <a:rPr lang="pt-BR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pt-BR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>
                    <a:solidFill>
                      <a:srgbClr val="0070C0"/>
                    </a:solidFill>
                  </a:rPr>
                  <a:t> = 48.000</a:t>
                </a:r>
              </a:p>
            </p:txBody>
          </p:sp>
        </mc:Choice>
        <mc:Fallback xmlns="">
          <p:sp>
            <p:nvSpPr>
              <p:cNvPr id="8" name="CaixaDe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2928" y="5190113"/>
                <a:ext cx="2546338" cy="369332"/>
              </a:xfrm>
              <a:prstGeom prst="rect">
                <a:avLst/>
              </a:prstGeom>
              <a:blipFill>
                <a:blip r:embed="rId4"/>
                <a:stretch>
                  <a:fillRect l="-4067" t="-24590" r="-5981" b="-4918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/>
              <p:cNvSpPr txBox="1"/>
              <p:nvPr/>
            </p:nvSpPr>
            <p:spPr>
              <a:xfrm>
                <a:off x="8808742" y="5632504"/>
                <a:ext cx="3052631" cy="404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rgbClr val="0070C0"/>
                    </a:solidFill>
                  </a:rPr>
                  <a:t>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pt-BR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pt-BR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48.000</m:t>
                        </m:r>
                      </m:e>
                    </m:rad>
                    <m:r>
                      <a:rPr lang="pt-BR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=219,09</m:t>
                    </m:r>
                  </m:oMath>
                </a14:m>
                <a:endParaRPr lang="pt-BR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CaixaDeTex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742" y="5632504"/>
                <a:ext cx="3052631" cy="404150"/>
              </a:xfrm>
              <a:prstGeom prst="rect">
                <a:avLst/>
              </a:prstGeom>
              <a:blipFill>
                <a:blip r:embed="rId5"/>
                <a:stretch>
                  <a:fillRect t="-15152" b="-454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co 9"/>
          <p:cNvSpPr/>
          <p:nvPr/>
        </p:nvSpPr>
        <p:spPr>
          <a:xfrm rot="9511506">
            <a:off x="1577282" y="2875981"/>
            <a:ext cx="4092591" cy="3173419"/>
          </a:xfrm>
          <a:prstGeom prst="arc">
            <a:avLst>
              <a:gd name="adj1" fmla="val 13360246"/>
              <a:gd name="adj2" fmla="val 282393"/>
            </a:avLst>
          </a:prstGeom>
          <a:ln w="38100"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Arco 10"/>
          <p:cNvSpPr/>
          <p:nvPr/>
        </p:nvSpPr>
        <p:spPr>
          <a:xfrm rot="13683537" flipV="1">
            <a:off x="3841479" y="2098452"/>
            <a:ext cx="1268976" cy="1140651"/>
          </a:xfrm>
          <a:prstGeom prst="arc">
            <a:avLst>
              <a:gd name="adj1" fmla="val 14389531"/>
              <a:gd name="adj2" fmla="val 282393"/>
            </a:avLst>
          </a:prstGeom>
          <a:ln w="38100"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Arco 11"/>
          <p:cNvSpPr/>
          <p:nvPr/>
        </p:nvSpPr>
        <p:spPr>
          <a:xfrm rot="13683537" flipV="1">
            <a:off x="6279117" y="2130213"/>
            <a:ext cx="1268976" cy="1108296"/>
          </a:xfrm>
          <a:prstGeom prst="arc">
            <a:avLst>
              <a:gd name="adj1" fmla="val 14389531"/>
              <a:gd name="adj2" fmla="val 1686154"/>
            </a:avLst>
          </a:prstGeom>
          <a:ln w="38100"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co 12"/>
          <p:cNvSpPr/>
          <p:nvPr/>
        </p:nvSpPr>
        <p:spPr>
          <a:xfrm rot="13683537" flipV="1">
            <a:off x="8383946" y="2142914"/>
            <a:ext cx="1268976" cy="1108296"/>
          </a:xfrm>
          <a:prstGeom prst="arc">
            <a:avLst>
              <a:gd name="adj1" fmla="val 14389531"/>
              <a:gd name="adj2" fmla="val 1686154"/>
            </a:avLst>
          </a:prstGeom>
          <a:ln w="38100"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/>
          <p:cNvSpPr txBox="1"/>
          <p:nvPr/>
        </p:nvSpPr>
        <p:spPr>
          <a:xfrm>
            <a:off x="9244597" y="1987315"/>
            <a:ext cx="1652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accent1"/>
                </a:solidFill>
              </a:rPr>
              <a:t>* Probabilidade</a:t>
            </a:r>
          </a:p>
        </p:txBody>
      </p:sp>
    </p:spTree>
    <p:extLst>
      <p:ext uri="{BB962C8B-B14F-4D97-AF65-F5344CB8AC3E}">
        <p14:creationId xmlns:p14="http://schemas.microsoft.com/office/powerpoint/2010/main" val="381876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026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 Então qual seria a melhor alternativa?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2915942" y="3029948"/>
                <a:ext cx="15184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=52,44</m:t>
                      </m:r>
                    </m:oMath>
                  </m:oMathPara>
                </a14:m>
                <a:endParaRPr lang="pt-BR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942" y="3029948"/>
                <a:ext cx="1518493" cy="369332"/>
              </a:xfrm>
              <a:prstGeom prst="rect">
                <a:avLst/>
              </a:prstGeom>
              <a:blipFill>
                <a:blip r:embed="rId2"/>
                <a:stretch>
                  <a:fillRect l="-2008" r="-4819" b="-147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7068842" y="3029948"/>
                <a:ext cx="17107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=219,09</m:t>
                      </m:r>
                    </m:oMath>
                  </m:oMathPara>
                </a14:m>
                <a:endParaRPr lang="pt-BR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842" y="3029948"/>
                <a:ext cx="1710789" cy="369332"/>
              </a:xfrm>
              <a:prstGeom prst="rect">
                <a:avLst/>
              </a:prstGeom>
              <a:blipFill>
                <a:blip r:embed="rId3"/>
                <a:stretch>
                  <a:fillRect l="-2143" r="-4286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/>
              <p:cNvSpPr txBox="1"/>
              <p:nvPr/>
            </p:nvSpPr>
            <p:spPr>
              <a:xfrm>
                <a:off x="2979100" y="2752949"/>
                <a:ext cx="13921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</m:e>
                      </m:d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𝟕𝟎𝟎</m:t>
                      </m:r>
                    </m:oMath>
                  </m:oMathPara>
                </a14:m>
                <a:endParaRPr lang="pt-BR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CaixaDe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9100" y="2752949"/>
                <a:ext cx="1392176" cy="276999"/>
              </a:xfrm>
              <a:prstGeom prst="rect">
                <a:avLst/>
              </a:prstGeom>
              <a:blipFill>
                <a:blip r:embed="rId4"/>
                <a:stretch>
                  <a:fillRect l="-3947" r="-3947" b="-177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/>
              <p:cNvSpPr txBox="1"/>
              <p:nvPr/>
            </p:nvSpPr>
            <p:spPr>
              <a:xfrm>
                <a:off x="7206507" y="2752948"/>
                <a:ext cx="14354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</m:e>
                      </m:d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𝟕𝟎𝟎</m:t>
                      </m:r>
                    </m:oMath>
                  </m:oMathPara>
                </a14:m>
                <a:endParaRPr lang="pt-BR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CaixaDe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6507" y="2752948"/>
                <a:ext cx="1435457" cy="276999"/>
              </a:xfrm>
              <a:prstGeom prst="rect">
                <a:avLst/>
              </a:prstGeom>
              <a:blipFill>
                <a:blip r:embed="rId5"/>
                <a:stretch>
                  <a:fillRect l="-2119" r="-2542" b="-177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inal de Multiplicação 9"/>
          <p:cNvSpPr/>
          <p:nvPr/>
        </p:nvSpPr>
        <p:spPr>
          <a:xfrm>
            <a:off x="5424524" y="2602420"/>
            <a:ext cx="855053" cy="855053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Conteúdo 2"/>
          <p:cNvSpPr txBox="1">
            <a:spLocks/>
          </p:cNvSpPr>
          <p:nvPr/>
        </p:nvSpPr>
        <p:spPr>
          <a:xfrm>
            <a:off x="1097280" y="4068370"/>
            <a:ext cx="10058400" cy="44026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 Mas para retornos esperados e desvio-padrão diferentes como poderíamos decidir?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2694" y="2703955"/>
            <a:ext cx="638175" cy="695325"/>
          </a:xfrm>
          <a:prstGeom prst="rect">
            <a:avLst/>
          </a:prstGeom>
        </p:spPr>
      </p:pic>
      <p:sp>
        <p:nvSpPr>
          <p:cNvPr id="13" name="Elipse 12"/>
          <p:cNvSpPr/>
          <p:nvPr/>
        </p:nvSpPr>
        <p:spPr>
          <a:xfrm>
            <a:off x="2654059" y="2523121"/>
            <a:ext cx="1981200" cy="1118680"/>
          </a:xfrm>
          <a:prstGeom prst="ellipse">
            <a:avLst/>
          </a:prstGeom>
          <a:noFill/>
          <a:ln w="571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/>
          <p:cNvSpPr txBox="1"/>
          <p:nvPr/>
        </p:nvSpPr>
        <p:spPr>
          <a:xfrm>
            <a:off x="3871039" y="4900727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/>
              <p:cNvSpPr txBox="1"/>
              <p:nvPr/>
            </p:nvSpPr>
            <p:spPr>
              <a:xfrm>
                <a:off x="7718573" y="4779508"/>
                <a:ext cx="1410643" cy="7964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000" b="0" i="1" smtClean="0">
                          <a:latin typeface="Cambria Math" panose="02040503050406030204" pitchFamily="18" charset="0"/>
                        </a:rPr>
                        <m:t>𝐶𝑉</m:t>
                      </m:r>
                      <m:r>
                        <a:rPr lang="pt-BR" sz="3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3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acc>
                            <m:accPr>
                              <m:chr m:val="̅"/>
                              <m:ctrlPr>
                                <a:rPr lang="pt-BR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3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pt-BR" sz="3000" dirty="0"/>
              </a:p>
            </p:txBody>
          </p:sp>
        </mc:Choice>
        <mc:Fallback xmlns="">
          <p:sp>
            <p:nvSpPr>
              <p:cNvPr id="15" name="CaixaDeTexto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8573" y="4779508"/>
                <a:ext cx="1410643" cy="7964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Espaço Reservado para Conteúdo 2"/>
          <p:cNvSpPr txBox="1">
            <a:spLocks/>
          </p:cNvSpPr>
          <p:nvPr/>
        </p:nvSpPr>
        <p:spPr>
          <a:xfrm>
            <a:off x="3678978" y="4573856"/>
            <a:ext cx="3389864" cy="1369744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Calibri" panose="020F0502020204030204" pitchFamily="34" charset="0"/>
              <a:buNone/>
            </a:pPr>
            <a:r>
              <a:rPr lang="pt-BR" sz="2400" dirty="0"/>
              <a:t>O coeficiente de variação (CV) expressa o risco por unidade de retorno esperado. </a:t>
            </a:r>
          </a:p>
        </p:txBody>
      </p:sp>
      <p:sp>
        <p:nvSpPr>
          <p:cNvPr id="18" name="Espaço Reservado para Conteúdo 2"/>
          <p:cNvSpPr txBox="1">
            <a:spLocks/>
          </p:cNvSpPr>
          <p:nvPr/>
        </p:nvSpPr>
        <p:spPr>
          <a:xfrm>
            <a:off x="1334315" y="4693087"/>
            <a:ext cx="1694932" cy="852892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pt-BR" sz="2400" dirty="0"/>
              <a:t>Coeficiente de variação</a:t>
            </a:r>
          </a:p>
        </p:txBody>
      </p:sp>
      <p:cxnSp>
        <p:nvCxnSpPr>
          <p:cNvPr id="20" name="Conector de Seta Reta 19"/>
          <p:cNvCxnSpPr>
            <a:stCxn id="18" idx="3"/>
          </p:cNvCxnSpPr>
          <p:nvPr/>
        </p:nvCxnSpPr>
        <p:spPr>
          <a:xfrm>
            <a:off x="3029247" y="5119533"/>
            <a:ext cx="6154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8641964" y="4686177"/>
            <a:ext cx="705236" cy="426447"/>
          </a:xfrm>
          <a:prstGeom prst="ellipse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/>
          <p:cNvSpPr/>
          <p:nvPr/>
        </p:nvSpPr>
        <p:spPr>
          <a:xfrm>
            <a:off x="8641964" y="5205955"/>
            <a:ext cx="705236" cy="426447"/>
          </a:xfrm>
          <a:prstGeom prst="ellipse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spaço Reservado para Conteúdo 2"/>
          <p:cNvSpPr txBox="1">
            <a:spLocks/>
          </p:cNvSpPr>
          <p:nvPr/>
        </p:nvSpPr>
        <p:spPr>
          <a:xfrm>
            <a:off x="9347200" y="4693087"/>
            <a:ext cx="847466" cy="382601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pt-BR" sz="2400" dirty="0">
                <a:solidFill>
                  <a:srgbClr val="0070C0"/>
                </a:solidFill>
              </a:rPr>
              <a:t>Risco</a:t>
            </a:r>
          </a:p>
        </p:txBody>
      </p:sp>
      <p:sp>
        <p:nvSpPr>
          <p:cNvPr id="24" name="Espaço Reservado para Conteúdo 2"/>
          <p:cNvSpPr txBox="1">
            <a:spLocks/>
          </p:cNvSpPr>
          <p:nvPr/>
        </p:nvSpPr>
        <p:spPr>
          <a:xfrm>
            <a:off x="9355214" y="5227877"/>
            <a:ext cx="1211186" cy="382601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pt-BR" sz="2400" dirty="0">
                <a:solidFill>
                  <a:srgbClr val="00B050"/>
                </a:solidFill>
              </a:rPr>
              <a:t>Retorno esperado</a:t>
            </a:r>
          </a:p>
        </p:txBody>
      </p:sp>
    </p:spTree>
    <p:extLst>
      <p:ext uri="{BB962C8B-B14F-4D97-AF65-F5344CB8AC3E}">
        <p14:creationId xmlns:p14="http://schemas.microsoft.com/office/powerpoint/2010/main" val="3959423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  <p:bldP spid="15" grpId="0"/>
      <p:bldP spid="16" grpId="0" animBg="1"/>
      <p:bldP spid="18" grpId="0" animBg="1"/>
      <p:bldP spid="21" grpId="0" animBg="1"/>
      <p:bldP spid="22" grpId="0" animBg="1"/>
      <p:bldP spid="23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38946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 Exemplos: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394100"/>
              </p:ext>
            </p:extLst>
          </p:nvPr>
        </p:nvGraphicFramePr>
        <p:xfrm>
          <a:off x="1097280" y="2343574"/>
          <a:ext cx="930402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6005">
                  <a:extLst>
                    <a:ext uri="{9D8B030D-6E8A-4147-A177-3AD203B41FA5}">
                      <a16:colId xmlns:a16="http://schemas.microsoft.com/office/drawing/2014/main" val="3304087812"/>
                    </a:ext>
                  </a:extLst>
                </a:gridCol>
                <a:gridCol w="2326005">
                  <a:extLst>
                    <a:ext uri="{9D8B030D-6E8A-4147-A177-3AD203B41FA5}">
                      <a16:colId xmlns:a16="http://schemas.microsoft.com/office/drawing/2014/main" val="2309900394"/>
                    </a:ext>
                  </a:extLst>
                </a:gridCol>
                <a:gridCol w="2326005">
                  <a:extLst>
                    <a:ext uri="{9D8B030D-6E8A-4147-A177-3AD203B41FA5}">
                      <a16:colId xmlns:a16="http://schemas.microsoft.com/office/drawing/2014/main" val="1850354768"/>
                    </a:ext>
                  </a:extLst>
                </a:gridCol>
                <a:gridCol w="2326005">
                  <a:extLst>
                    <a:ext uri="{9D8B030D-6E8A-4147-A177-3AD203B41FA5}">
                      <a16:colId xmlns:a16="http://schemas.microsoft.com/office/drawing/2014/main" val="3414807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INVESTIMENTOS</a:t>
                      </a:r>
                    </a:p>
                  </a:txBody>
                  <a:tcPr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RETORNO ESPERADO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DESVIO-PADRÃO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CV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38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24%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20%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0,833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262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30%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20%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0,667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087112"/>
                  </a:ext>
                </a:extLst>
              </a:tr>
            </a:tbl>
          </a:graphicData>
        </a:graphic>
      </p:graphicFrame>
      <p:sp>
        <p:nvSpPr>
          <p:cNvPr id="5" name="Retângulo 4"/>
          <p:cNvSpPr/>
          <p:nvPr/>
        </p:nvSpPr>
        <p:spPr>
          <a:xfrm>
            <a:off x="4241800" y="3124200"/>
            <a:ext cx="749300" cy="331894"/>
          </a:xfrm>
          <a:prstGeom prst="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6572250" y="3124200"/>
            <a:ext cx="749300" cy="331894"/>
          </a:xfrm>
          <a:prstGeom prst="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8877300" y="3150447"/>
            <a:ext cx="749300" cy="331894"/>
          </a:xfrm>
          <a:prstGeom prst="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083" y="3150447"/>
            <a:ext cx="322591" cy="351480"/>
          </a:xfrm>
          <a:prstGeom prst="rect">
            <a:avLst/>
          </a:prstGeom>
        </p:spPr>
      </p:pic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207347"/>
              </p:ext>
            </p:extLst>
          </p:nvPr>
        </p:nvGraphicFramePr>
        <p:xfrm>
          <a:off x="1173480" y="4236720"/>
          <a:ext cx="930402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6005">
                  <a:extLst>
                    <a:ext uri="{9D8B030D-6E8A-4147-A177-3AD203B41FA5}">
                      <a16:colId xmlns:a16="http://schemas.microsoft.com/office/drawing/2014/main" val="3304087812"/>
                    </a:ext>
                  </a:extLst>
                </a:gridCol>
                <a:gridCol w="2326005">
                  <a:extLst>
                    <a:ext uri="{9D8B030D-6E8A-4147-A177-3AD203B41FA5}">
                      <a16:colId xmlns:a16="http://schemas.microsoft.com/office/drawing/2014/main" val="2309900394"/>
                    </a:ext>
                  </a:extLst>
                </a:gridCol>
                <a:gridCol w="2326005">
                  <a:extLst>
                    <a:ext uri="{9D8B030D-6E8A-4147-A177-3AD203B41FA5}">
                      <a16:colId xmlns:a16="http://schemas.microsoft.com/office/drawing/2014/main" val="1850354768"/>
                    </a:ext>
                  </a:extLst>
                </a:gridCol>
                <a:gridCol w="2326005">
                  <a:extLst>
                    <a:ext uri="{9D8B030D-6E8A-4147-A177-3AD203B41FA5}">
                      <a16:colId xmlns:a16="http://schemas.microsoft.com/office/drawing/2014/main" val="3414807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INVESTIMENTOS</a:t>
                      </a:r>
                    </a:p>
                  </a:txBody>
                  <a:tcPr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RETORNO ESPERADO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DESVIO-PADRÃO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CV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38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24%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20%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0,833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262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Z</a:t>
                      </a:r>
                    </a:p>
                  </a:txBody>
                  <a:tcPr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30%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29%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0,967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087112"/>
                  </a:ext>
                </a:extLst>
              </a:tr>
            </a:tbl>
          </a:graphicData>
        </a:graphic>
      </p:graphicFrame>
      <p:sp>
        <p:nvSpPr>
          <p:cNvPr id="10" name="CaixaDeTexto 9"/>
          <p:cNvSpPr txBox="1"/>
          <p:nvPr/>
        </p:nvSpPr>
        <p:spPr>
          <a:xfrm>
            <a:off x="2044700" y="5345854"/>
            <a:ext cx="553357" cy="104644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6200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8966200" y="4627033"/>
            <a:ext cx="749300" cy="331894"/>
          </a:xfrm>
          <a:prstGeom prst="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4241800" y="4627033"/>
            <a:ext cx="749300" cy="331894"/>
          </a:xfrm>
          <a:prstGeom prst="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/>
          <p:cNvSpPr/>
          <p:nvPr/>
        </p:nvSpPr>
        <p:spPr>
          <a:xfrm>
            <a:off x="4241800" y="5035126"/>
            <a:ext cx="749300" cy="331894"/>
          </a:xfrm>
          <a:prstGeom prst="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/>
          <p:cNvSpPr/>
          <p:nvPr/>
        </p:nvSpPr>
        <p:spPr>
          <a:xfrm>
            <a:off x="8966200" y="5057138"/>
            <a:ext cx="749300" cy="331894"/>
          </a:xfrm>
          <a:prstGeom prst="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spaço Reservado para Conteúdo 2"/>
          <p:cNvSpPr txBox="1">
            <a:spLocks/>
          </p:cNvSpPr>
          <p:nvPr/>
        </p:nvSpPr>
        <p:spPr>
          <a:xfrm>
            <a:off x="3086915" y="5575299"/>
            <a:ext cx="8068765" cy="673101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pt-BR" sz="2200" dirty="0"/>
              <a:t>A escolha vai depender do grau de risco que se está disposto a assumir ou o grau de aversão ao risco. </a:t>
            </a:r>
          </a:p>
        </p:txBody>
      </p:sp>
      <p:sp>
        <p:nvSpPr>
          <p:cNvPr id="23" name="Espaço Reservado para Conteúdo 2"/>
          <p:cNvSpPr txBox="1">
            <a:spLocks/>
          </p:cNvSpPr>
          <p:nvPr/>
        </p:nvSpPr>
        <p:spPr>
          <a:xfrm>
            <a:off x="9957615" y="4622376"/>
            <a:ext cx="1827985" cy="336551"/>
          </a:xfrm>
          <a:prstGeom prst="rect">
            <a:avLst/>
          </a:prstGeom>
          <a:ln>
            <a:noFill/>
            <a:prstDash val="dash"/>
          </a:ln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pt-BR" sz="2200" dirty="0"/>
              <a:t>Maior aversão</a:t>
            </a:r>
          </a:p>
        </p:txBody>
      </p:sp>
      <p:sp>
        <p:nvSpPr>
          <p:cNvPr id="24" name="Espaço Reservado para Conteúdo 2"/>
          <p:cNvSpPr txBox="1">
            <a:spLocks/>
          </p:cNvSpPr>
          <p:nvPr/>
        </p:nvSpPr>
        <p:spPr>
          <a:xfrm>
            <a:off x="9957615" y="4998930"/>
            <a:ext cx="1827985" cy="336551"/>
          </a:xfrm>
          <a:prstGeom prst="rect">
            <a:avLst/>
          </a:prstGeom>
          <a:ln>
            <a:noFill/>
            <a:prstDash val="dash"/>
          </a:ln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pt-BR" sz="2200" dirty="0"/>
              <a:t>Menor aversão</a:t>
            </a:r>
          </a:p>
        </p:txBody>
      </p:sp>
      <p:sp>
        <p:nvSpPr>
          <p:cNvPr id="21" name="Elipse 20"/>
          <p:cNvSpPr/>
          <p:nvPr/>
        </p:nvSpPr>
        <p:spPr>
          <a:xfrm>
            <a:off x="2044700" y="3043794"/>
            <a:ext cx="432856" cy="492705"/>
          </a:xfrm>
          <a:prstGeom prst="ellipse">
            <a:avLst/>
          </a:prstGeom>
          <a:noFill/>
          <a:ln w="571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1519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/>
      <p:bldP spid="11" grpId="0" animBg="1"/>
      <p:bldP spid="12" grpId="0" animBg="1"/>
      <p:bldP spid="18" grpId="0" animBg="1"/>
      <p:bldP spid="19" grpId="0" animBg="1"/>
      <p:bldP spid="20" grpId="0" animBg="1"/>
      <p:bldP spid="23" grpId="0"/>
      <p:bldP spid="24" grpId="0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11666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 A preferência por risco ou retorno é algo pessoal à cada investidor.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 A teoria da preferência evidencia como um investidor se posiciona diante de investimentos que apresentam diferentes combinações de risco e retorno.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 Nessas decisões o investidor irá buscar maximizar sua satisfação ou sua utilidade esperada.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 Assim, ele irá construir uma escala de preferências, que são representadas por curvas: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cxnSp>
        <p:nvCxnSpPr>
          <p:cNvPr id="5" name="Conector de Seta Reta 4"/>
          <p:cNvCxnSpPr/>
          <p:nvPr/>
        </p:nvCxnSpPr>
        <p:spPr>
          <a:xfrm flipV="1">
            <a:off x="2819872" y="3962400"/>
            <a:ext cx="0" cy="21596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/>
          <p:cNvCxnSpPr/>
          <p:nvPr/>
        </p:nvCxnSpPr>
        <p:spPr>
          <a:xfrm flipV="1">
            <a:off x="2604783" y="5920146"/>
            <a:ext cx="2778594" cy="43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/>
              <p:cNvSpPr txBox="1"/>
              <p:nvPr/>
            </p:nvSpPr>
            <p:spPr>
              <a:xfrm>
                <a:off x="768477" y="4014058"/>
                <a:ext cx="2051395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2000" dirty="0">
                    <a:latin typeface="Calibri" panose="020F0502020204030204" pitchFamily="34" charset="0"/>
                  </a:rPr>
                  <a:t>Retorno esperado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9" name="CaixaDeTex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477" y="4014058"/>
                <a:ext cx="2051395" cy="707886"/>
              </a:xfrm>
              <a:prstGeom prst="rect">
                <a:avLst/>
              </a:prstGeom>
              <a:blipFill>
                <a:blip r:embed="rId2"/>
                <a:stretch>
                  <a:fillRect l="-2671" t="-4274" r="-2671" b="-76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/>
              <p:cNvSpPr txBox="1"/>
              <p:nvPr/>
            </p:nvSpPr>
            <p:spPr>
              <a:xfrm>
                <a:off x="5399505" y="5924536"/>
                <a:ext cx="112659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2000" dirty="0">
                    <a:latin typeface="Calibri" panose="020F0502020204030204" pitchFamily="34" charset="0"/>
                  </a:rPr>
                  <a:t>Risco = </a:t>
                </a:r>
                <a14:m>
                  <m:oMath xmlns:m="http://schemas.openxmlformats.org/officeDocument/2006/math">
                    <m:r>
                      <a:rPr lang="pt-B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10" name="CaixaDe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505" y="5924536"/>
                <a:ext cx="1126590" cy="400110"/>
              </a:xfrm>
              <a:prstGeom prst="rect">
                <a:avLst/>
              </a:prstGeom>
              <a:blipFill>
                <a:blip r:embed="rId3"/>
                <a:stretch>
                  <a:fillRect l="-5946" t="-9091" b="-257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co 22"/>
          <p:cNvSpPr/>
          <p:nvPr/>
        </p:nvSpPr>
        <p:spPr>
          <a:xfrm rot="6038289">
            <a:off x="1645794" y="656913"/>
            <a:ext cx="2859829" cy="5115954"/>
          </a:xfrm>
          <a:prstGeom prst="arc">
            <a:avLst>
              <a:gd name="adj1" fmla="val 17202510"/>
              <a:gd name="adj2" fmla="val 0"/>
            </a:avLst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Arco 23"/>
          <p:cNvSpPr/>
          <p:nvPr/>
        </p:nvSpPr>
        <p:spPr>
          <a:xfrm rot="6038289">
            <a:off x="1645793" y="1067449"/>
            <a:ext cx="2859829" cy="5115954"/>
          </a:xfrm>
          <a:prstGeom prst="arc">
            <a:avLst>
              <a:gd name="adj1" fmla="val 17153160"/>
              <a:gd name="adj2" fmla="val 0"/>
            </a:avLst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Arco 24"/>
          <p:cNvSpPr/>
          <p:nvPr/>
        </p:nvSpPr>
        <p:spPr>
          <a:xfrm rot="6038289">
            <a:off x="1661921" y="1431829"/>
            <a:ext cx="2859829" cy="5115954"/>
          </a:xfrm>
          <a:prstGeom prst="arc">
            <a:avLst>
              <a:gd name="adj1" fmla="val 17193641"/>
              <a:gd name="adj2" fmla="val 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have Esquerda 25"/>
          <p:cNvSpPr/>
          <p:nvPr/>
        </p:nvSpPr>
        <p:spPr>
          <a:xfrm flipH="1">
            <a:off x="5568752" y="4019574"/>
            <a:ext cx="189960" cy="144276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spaço Reservado para Conteúdo 2"/>
          <p:cNvSpPr txBox="1">
            <a:spLocks/>
          </p:cNvSpPr>
          <p:nvPr/>
        </p:nvSpPr>
        <p:spPr>
          <a:xfrm>
            <a:off x="5770772" y="4553668"/>
            <a:ext cx="2736819" cy="336551"/>
          </a:xfrm>
          <a:prstGeom prst="rect">
            <a:avLst/>
          </a:prstGeom>
          <a:ln>
            <a:noFill/>
            <a:prstDash val="dash"/>
          </a:ln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pt-BR" sz="2200" dirty="0"/>
              <a:t>Mapa de curvas</a:t>
            </a:r>
          </a:p>
        </p:txBody>
      </p:sp>
      <p:sp>
        <p:nvSpPr>
          <p:cNvPr id="31" name="Sinal de Adição 30"/>
          <p:cNvSpPr/>
          <p:nvPr/>
        </p:nvSpPr>
        <p:spPr>
          <a:xfrm>
            <a:off x="9220200" y="3962400"/>
            <a:ext cx="362668" cy="362668"/>
          </a:xfrm>
          <a:prstGeom prst="mathPlu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Sinal de Subtração 31"/>
          <p:cNvSpPr/>
          <p:nvPr/>
        </p:nvSpPr>
        <p:spPr>
          <a:xfrm>
            <a:off x="9193116" y="5504694"/>
            <a:ext cx="416836" cy="362668"/>
          </a:xfrm>
          <a:prstGeom prst="mathMin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4" name="Conector de Seta Reta 33"/>
          <p:cNvCxnSpPr/>
          <p:nvPr/>
        </p:nvCxnSpPr>
        <p:spPr>
          <a:xfrm>
            <a:off x="9401534" y="4325068"/>
            <a:ext cx="1546" cy="1275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spaço Reservado para Conteúdo 2"/>
          <p:cNvSpPr txBox="1">
            <a:spLocks/>
          </p:cNvSpPr>
          <p:nvPr/>
        </p:nvSpPr>
        <p:spPr>
          <a:xfrm>
            <a:off x="9455181" y="3944068"/>
            <a:ext cx="1428719" cy="336551"/>
          </a:xfrm>
          <a:prstGeom prst="rect">
            <a:avLst/>
          </a:prstGeom>
          <a:ln>
            <a:noFill/>
            <a:prstDash val="dash"/>
          </a:ln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pt-BR" sz="2200" dirty="0"/>
              <a:t>Preferível</a:t>
            </a:r>
          </a:p>
        </p:txBody>
      </p:sp>
      <p:sp>
        <p:nvSpPr>
          <p:cNvPr id="40" name="Espaço Reservado para Conteúdo 2"/>
          <p:cNvSpPr txBox="1">
            <a:spLocks/>
          </p:cNvSpPr>
          <p:nvPr/>
        </p:nvSpPr>
        <p:spPr>
          <a:xfrm>
            <a:off x="9455181" y="5486362"/>
            <a:ext cx="1428719" cy="336551"/>
          </a:xfrm>
          <a:prstGeom prst="rect">
            <a:avLst/>
          </a:prstGeom>
          <a:ln>
            <a:noFill/>
            <a:prstDash val="dash"/>
          </a:ln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pt-BR" sz="2200" dirty="0"/>
              <a:t>Preferível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/>
              <p:cNvSpPr txBox="1"/>
              <p:nvPr/>
            </p:nvSpPr>
            <p:spPr>
              <a:xfrm>
                <a:off x="5064222" y="4077842"/>
                <a:ext cx="4884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1" name="CaixaDeTexto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4222" y="4077842"/>
                <a:ext cx="48840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/>
              <p:cNvSpPr txBox="1"/>
              <p:nvPr/>
            </p:nvSpPr>
            <p:spPr>
              <a:xfrm>
                <a:off x="5102582" y="4520887"/>
                <a:ext cx="4884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2" name="CaixaDeTexto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582" y="4520887"/>
                <a:ext cx="48840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ixaDeTexto 42"/>
              <p:cNvSpPr txBox="1"/>
              <p:nvPr/>
            </p:nvSpPr>
            <p:spPr>
              <a:xfrm>
                <a:off x="5102582" y="4943003"/>
                <a:ext cx="4830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3" name="CaixaDeTexto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582" y="4943003"/>
                <a:ext cx="48308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1335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23" grpId="0" animBg="1"/>
      <p:bldP spid="24" grpId="0" animBg="1"/>
      <p:bldP spid="25" grpId="0" animBg="1"/>
      <p:bldP spid="26" grpId="0" animBg="1"/>
      <p:bldP spid="27" grpId="0"/>
      <p:bldP spid="41" grpId="0"/>
      <p:bldP spid="42" grpId="0"/>
      <p:bldP spid="4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026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 Como identificar o perfil de risco de um investidor, para saber qual seria a melhor decisão?</a:t>
            </a:r>
          </a:p>
        </p:txBody>
      </p:sp>
      <p:cxnSp>
        <p:nvCxnSpPr>
          <p:cNvPr id="30" name="Conector reto 29"/>
          <p:cNvCxnSpPr/>
          <p:nvPr/>
        </p:nvCxnSpPr>
        <p:spPr>
          <a:xfrm>
            <a:off x="8952467" y="3034127"/>
            <a:ext cx="1033" cy="1920439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/>
          <p:nvPr/>
        </p:nvCxnSpPr>
        <p:spPr>
          <a:xfrm flipH="1" flipV="1">
            <a:off x="7129107" y="3032262"/>
            <a:ext cx="1823361" cy="186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spaço Reservado para Conteúdo 2"/>
          <p:cNvSpPr txBox="1">
            <a:spLocks/>
          </p:cNvSpPr>
          <p:nvPr/>
        </p:nvSpPr>
        <p:spPr>
          <a:xfrm>
            <a:off x="6900008" y="5521954"/>
            <a:ext cx="2736819" cy="336551"/>
          </a:xfrm>
          <a:prstGeom prst="rect">
            <a:avLst/>
          </a:prstGeom>
          <a:ln>
            <a:noFill/>
            <a:prstDash val="dash"/>
          </a:ln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pt-BR" sz="2200" dirty="0"/>
              <a:t>Maior aversão ao risco</a:t>
            </a:r>
          </a:p>
        </p:txBody>
      </p:sp>
      <p:cxnSp>
        <p:nvCxnSpPr>
          <p:cNvPr id="25" name="Conector reto 24"/>
          <p:cNvCxnSpPr/>
          <p:nvPr/>
        </p:nvCxnSpPr>
        <p:spPr>
          <a:xfrm>
            <a:off x="4350671" y="3644900"/>
            <a:ext cx="0" cy="1511586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/>
          <p:nvPr/>
        </p:nvCxnSpPr>
        <p:spPr>
          <a:xfrm flipH="1">
            <a:off x="2350458" y="3644900"/>
            <a:ext cx="2000213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spaço Reservado para Conteúdo 2"/>
          <p:cNvSpPr txBox="1">
            <a:spLocks/>
          </p:cNvSpPr>
          <p:nvPr/>
        </p:nvSpPr>
        <p:spPr>
          <a:xfrm>
            <a:off x="2177147" y="5528020"/>
            <a:ext cx="2736819" cy="336551"/>
          </a:xfrm>
          <a:prstGeom prst="rect">
            <a:avLst/>
          </a:prstGeom>
          <a:ln>
            <a:noFill/>
            <a:prstDash val="dash"/>
          </a:ln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pt-BR" sz="2200" dirty="0"/>
              <a:t>Menor aversão ao risco</a:t>
            </a:r>
          </a:p>
        </p:txBody>
      </p:sp>
      <p:grpSp>
        <p:nvGrpSpPr>
          <p:cNvPr id="9" name="Agrupar 8"/>
          <p:cNvGrpSpPr/>
          <p:nvPr/>
        </p:nvGrpSpPr>
        <p:grpSpPr>
          <a:xfrm>
            <a:off x="73718" y="908303"/>
            <a:ext cx="5115957" cy="4565715"/>
            <a:chOff x="73718" y="908303"/>
            <a:chExt cx="5115957" cy="4565715"/>
          </a:xfrm>
        </p:grpSpPr>
        <p:grpSp>
          <p:nvGrpSpPr>
            <p:cNvPr id="21" name="Agrupar 20"/>
            <p:cNvGrpSpPr/>
            <p:nvPr/>
          </p:nvGrpSpPr>
          <p:grpSpPr>
            <a:xfrm>
              <a:off x="73718" y="908303"/>
              <a:ext cx="5115957" cy="4565715"/>
              <a:chOff x="-714170" y="235203"/>
              <a:chExt cx="5115957" cy="4565715"/>
            </a:xfrm>
          </p:grpSpPr>
          <p:cxnSp>
            <p:nvCxnSpPr>
              <p:cNvPr id="4" name="Conector de Seta Reta 3"/>
              <p:cNvCxnSpPr/>
              <p:nvPr/>
            </p:nvCxnSpPr>
            <p:spPr>
              <a:xfrm flipV="1">
                <a:off x="1562573" y="1892300"/>
                <a:ext cx="1" cy="270856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Conector de Seta Reta 4"/>
              <p:cNvCxnSpPr/>
              <p:nvPr/>
            </p:nvCxnSpPr>
            <p:spPr>
              <a:xfrm flipV="1">
                <a:off x="1347484" y="4398943"/>
                <a:ext cx="2778594" cy="439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CaixaDeTexto 5"/>
                  <p:cNvSpPr txBox="1"/>
                  <p:nvPr/>
                </p:nvSpPr>
                <p:spPr>
                  <a:xfrm rot="16200000">
                    <a:off x="182933" y="3066128"/>
                    <a:ext cx="2051395" cy="70788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pt-BR" sz="2000" dirty="0">
                        <a:latin typeface="Calibri" panose="020F0502020204030204" pitchFamily="34" charset="0"/>
                      </a:rPr>
                      <a:t>Retorno esperado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200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pt-BR" sz="200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pt-BR" sz="200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6" name="CaixaDeTexto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182933" y="3066128"/>
                    <a:ext cx="2051395" cy="70788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274" t="-2671" r="-7692" b="-2671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CaixaDeTexto 6"/>
                  <p:cNvSpPr txBox="1"/>
                  <p:nvPr/>
                </p:nvSpPr>
                <p:spPr>
                  <a:xfrm>
                    <a:off x="2999488" y="4400808"/>
                    <a:ext cx="1126590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pt-BR" sz="2000" dirty="0">
                        <a:latin typeface="Calibri" panose="020F0502020204030204" pitchFamily="34" charset="0"/>
                      </a:rPr>
                      <a:t>Risco = </a:t>
                    </a:r>
                    <a14:m>
                      <m:oMath xmlns:m="http://schemas.openxmlformats.org/officeDocument/2006/math">
                        <m:r>
                          <a:rPr lang="pt-B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7" name="CaixaDeTexto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99488" y="4400808"/>
                    <a:ext cx="1126590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5405" t="-7576" b="-25758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Arco 9"/>
              <p:cNvSpPr/>
              <p:nvPr/>
            </p:nvSpPr>
            <p:spPr>
              <a:xfrm rot="6038289">
                <a:off x="413894" y="-892859"/>
                <a:ext cx="2859829" cy="5115954"/>
              </a:xfrm>
              <a:prstGeom prst="arc">
                <a:avLst>
                  <a:gd name="adj1" fmla="val 17202510"/>
                  <a:gd name="adj2" fmla="val 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1" name="Arco 10"/>
              <p:cNvSpPr/>
              <p:nvPr/>
            </p:nvSpPr>
            <p:spPr>
              <a:xfrm rot="6038289">
                <a:off x="413895" y="-449778"/>
                <a:ext cx="2859829" cy="5115954"/>
              </a:xfrm>
              <a:prstGeom prst="arc">
                <a:avLst>
                  <a:gd name="adj1" fmla="val 17202510"/>
                  <a:gd name="adj2" fmla="val 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2" name="Arco 11"/>
              <p:cNvSpPr/>
              <p:nvPr/>
            </p:nvSpPr>
            <p:spPr>
              <a:xfrm rot="6038289">
                <a:off x="413892" y="-12469"/>
                <a:ext cx="2859829" cy="5115954"/>
              </a:xfrm>
              <a:prstGeom prst="arc">
                <a:avLst>
                  <a:gd name="adj1" fmla="val 17202510"/>
                  <a:gd name="adj2" fmla="val 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CaixaDeTexto 45"/>
                <p:cNvSpPr txBox="1"/>
                <p:nvPr/>
              </p:nvSpPr>
              <p:spPr>
                <a:xfrm>
                  <a:off x="4645223" y="3166390"/>
                  <a:ext cx="4884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6" name="CaixaDeTexto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5223" y="3166390"/>
                  <a:ext cx="488402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CaixaDeTexto 46"/>
                <p:cNvSpPr txBox="1"/>
                <p:nvPr/>
              </p:nvSpPr>
              <p:spPr>
                <a:xfrm>
                  <a:off x="4660935" y="3630391"/>
                  <a:ext cx="4884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7" name="CaixaDeTexto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0935" y="3630391"/>
                  <a:ext cx="48840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CaixaDeTexto 47"/>
                <p:cNvSpPr txBox="1"/>
                <p:nvPr/>
              </p:nvSpPr>
              <p:spPr>
                <a:xfrm>
                  <a:off x="4669765" y="4053725"/>
                  <a:ext cx="4830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8" name="CaixaDeTexto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9765" y="4053725"/>
                  <a:ext cx="483081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Agrupar 7"/>
          <p:cNvGrpSpPr/>
          <p:nvPr/>
        </p:nvGrpSpPr>
        <p:grpSpPr>
          <a:xfrm>
            <a:off x="5545870" y="209980"/>
            <a:ext cx="4440497" cy="5146561"/>
            <a:chOff x="5545870" y="209980"/>
            <a:chExt cx="4440497" cy="5146561"/>
          </a:xfrm>
        </p:grpSpPr>
        <p:grpSp>
          <p:nvGrpSpPr>
            <p:cNvPr id="23" name="Agrupar 22"/>
            <p:cNvGrpSpPr/>
            <p:nvPr/>
          </p:nvGrpSpPr>
          <p:grpSpPr>
            <a:xfrm>
              <a:off x="5545870" y="209980"/>
              <a:ext cx="4167715" cy="5146561"/>
              <a:chOff x="5197364" y="-392468"/>
              <a:chExt cx="4167715" cy="5146561"/>
            </a:xfrm>
          </p:grpSpPr>
          <p:cxnSp>
            <p:nvCxnSpPr>
              <p:cNvPr id="13" name="Conector de Seta Reta 12"/>
              <p:cNvCxnSpPr/>
              <p:nvPr/>
            </p:nvCxnSpPr>
            <p:spPr>
              <a:xfrm flipV="1">
                <a:off x="6766591" y="1962952"/>
                <a:ext cx="1" cy="259108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ector de Seta Reta 13"/>
              <p:cNvCxnSpPr/>
              <p:nvPr/>
            </p:nvCxnSpPr>
            <p:spPr>
              <a:xfrm flipV="1">
                <a:off x="6551502" y="4352118"/>
                <a:ext cx="2778594" cy="439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CaixaDeTexto 14"/>
                  <p:cNvSpPr txBox="1"/>
                  <p:nvPr/>
                </p:nvSpPr>
                <p:spPr>
                  <a:xfrm rot="16200000">
                    <a:off x="5386951" y="3019303"/>
                    <a:ext cx="2051395" cy="70788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pt-BR" sz="2000" dirty="0">
                        <a:latin typeface="Calibri" panose="020F0502020204030204" pitchFamily="34" charset="0"/>
                      </a:rPr>
                      <a:t>Retorno esperado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200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pt-BR" sz="200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pt-BR" sz="200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15" name="CaixaDeTexto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5386951" y="3019303"/>
                    <a:ext cx="2051395" cy="707886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4310" t="-2679" r="-8621" b="-2976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CaixaDeTexto 15"/>
                  <p:cNvSpPr txBox="1"/>
                  <p:nvPr/>
                </p:nvSpPr>
                <p:spPr>
                  <a:xfrm>
                    <a:off x="8203506" y="4353983"/>
                    <a:ext cx="1126590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pt-BR" sz="2000" dirty="0">
                        <a:latin typeface="Calibri" panose="020F0502020204030204" pitchFamily="34" charset="0"/>
                      </a:rPr>
                      <a:t>Risco = </a:t>
                    </a:r>
                    <a14:m>
                      <m:oMath xmlns:m="http://schemas.openxmlformats.org/officeDocument/2006/math">
                        <m:r>
                          <a:rPr lang="pt-B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16" name="CaixaDeTexto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03506" y="4353983"/>
                    <a:ext cx="1126590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5946" t="-7576" b="-25758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Arco 16"/>
              <p:cNvSpPr/>
              <p:nvPr/>
            </p:nvSpPr>
            <p:spPr>
              <a:xfrm rot="6038289">
                <a:off x="5293597" y="-477566"/>
                <a:ext cx="3576536" cy="3746731"/>
              </a:xfrm>
              <a:prstGeom prst="arc">
                <a:avLst>
                  <a:gd name="adj1" fmla="val 16786066"/>
                  <a:gd name="adj2" fmla="val 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9" name="Arco 18"/>
              <p:cNvSpPr/>
              <p:nvPr/>
            </p:nvSpPr>
            <p:spPr>
              <a:xfrm rot="6038289">
                <a:off x="5471590" y="-87022"/>
                <a:ext cx="3459048" cy="3887407"/>
              </a:xfrm>
              <a:prstGeom prst="arc">
                <a:avLst>
                  <a:gd name="adj1" fmla="val 16786066"/>
                  <a:gd name="adj2" fmla="val 214276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20" name="Arco 19"/>
              <p:cNvSpPr/>
              <p:nvPr/>
            </p:nvSpPr>
            <p:spPr>
              <a:xfrm rot="6038289">
                <a:off x="5609565" y="225507"/>
                <a:ext cx="3343313" cy="4167715"/>
              </a:xfrm>
              <a:prstGeom prst="arc">
                <a:avLst>
                  <a:gd name="adj1" fmla="val 16786066"/>
                  <a:gd name="adj2" fmla="val 484929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CaixaDeTexto 48"/>
                <p:cNvSpPr txBox="1"/>
                <p:nvPr/>
              </p:nvSpPr>
              <p:spPr>
                <a:xfrm>
                  <a:off x="9113834" y="2325564"/>
                  <a:ext cx="4884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9" name="CaixaDeTexto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13834" y="2325564"/>
                  <a:ext cx="48840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CaixaDeTexto 49"/>
                <p:cNvSpPr txBox="1"/>
                <p:nvPr/>
              </p:nvSpPr>
              <p:spPr>
                <a:xfrm>
                  <a:off x="9320150" y="2888832"/>
                  <a:ext cx="4884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0" name="CaixaDeTexto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0150" y="2888832"/>
                  <a:ext cx="48840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CaixaDeTexto 50"/>
                <p:cNvSpPr txBox="1"/>
                <p:nvPr/>
              </p:nvSpPr>
              <p:spPr>
                <a:xfrm>
                  <a:off x="9503286" y="3365646"/>
                  <a:ext cx="4830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1" name="CaixaDeTexto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03286" y="3365646"/>
                  <a:ext cx="483081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78804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5355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 E qual seria o comportamento de investidores sem aversão ao risco?</a:t>
            </a:r>
          </a:p>
        </p:txBody>
      </p:sp>
      <p:grpSp>
        <p:nvGrpSpPr>
          <p:cNvPr id="9" name="Agrupar 8"/>
          <p:cNvGrpSpPr/>
          <p:nvPr/>
        </p:nvGrpSpPr>
        <p:grpSpPr>
          <a:xfrm>
            <a:off x="1642576" y="2565400"/>
            <a:ext cx="3720245" cy="2908618"/>
            <a:chOff x="1642576" y="2565400"/>
            <a:chExt cx="3720245" cy="2908618"/>
          </a:xfrm>
        </p:grpSpPr>
        <p:grpSp>
          <p:nvGrpSpPr>
            <p:cNvPr id="4" name="Agrupar 3"/>
            <p:cNvGrpSpPr/>
            <p:nvPr/>
          </p:nvGrpSpPr>
          <p:grpSpPr>
            <a:xfrm>
              <a:off x="1642576" y="2565400"/>
              <a:ext cx="3271390" cy="2908618"/>
              <a:chOff x="854688" y="1892300"/>
              <a:chExt cx="3271390" cy="2908618"/>
            </a:xfrm>
          </p:grpSpPr>
          <p:cxnSp>
            <p:nvCxnSpPr>
              <p:cNvPr id="5" name="Conector de Seta Reta 4"/>
              <p:cNvCxnSpPr/>
              <p:nvPr/>
            </p:nvCxnSpPr>
            <p:spPr>
              <a:xfrm flipV="1">
                <a:off x="1562573" y="1892300"/>
                <a:ext cx="1" cy="270856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Conector de Seta Reta 5"/>
              <p:cNvCxnSpPr/>
              <p:nvPr/>
            </p:nvCxnSpPr>
            <p:spPr>
              <a:xfrm flipV="1">
                <a:off x="1347484" y="4398943"/>
                <a:ext cx="2778594" cy="439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CaixaDeTexto 6"/>
                  <p:cNvSpPr txBox="1"/>
                  <p:nvPr/>
                </p:nvSpPr>
                <p:spPr>
                  <a:xfrm rot="16200000">
                    <a:off x="182933" y="3066128"/>
                    <a:ext cx="2051395" cy="70788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pt-BR" sz="2000" dirty="0">
                        <a:latin typeface="Calibri" panose="020F0502020204030204" pitchFamily="34" charset="0"/>
                      </a:rPr>
                      <a:t>Retorno esperado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200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pt-BR" sz="200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pt-BR" sz="200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7" name="CaixaDeTexto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182933" y="3066128"/>
                    <a:ext cx="2051395" cy="707886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4274" t="-2671" r="-7692" b="-2671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CaixaDeTexto 7"/>
                  <p:cNvSpPr txBox="1"/>
                  <p:nvPr/>
                </p:nvSpPr>
                <p:spPr>
                  <a:xfrm>
                    <a:off x="2999488" y="4400808"/>
                    <a:ext cx="1126590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pt-BR" sz="2000" dirty="0">
                        <a:latin typeface="Calibri" panose="020F0502020204030204" pitchFamily="34" charset="0"/>
                      </a:rPr>
                      <a:t>Risco = </a:t>
                    </a:r>
                    <a14:m>
                      <m:oMath xmlns:m="http://schemas.openxmlformats.org/officeDocument/2006/math">
                        <m:r>
                          <a:rPr lang="pt-B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8" name="CaixaDeTexto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99488" y="4400808"/>
                    <a:ext cx="1126590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5405" t="-7576" b="-25758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8" name="Conector reto 17"/>
            <p:cNvCxnSpPr/>
            <p:nvPr/>
          </p:nvCxnSpPr>
          <p:spPr>
            <a:xfrm>
              <a:off x="2350461" y="3067473"/>
              <a:ext cx="256350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to 18"/>
            <p:cNvCxnSpPr/>
            <p:nvPr/>
          </p:nvCxnSpPr>
          <p:spPr>
            <a:xfrm>
              <a:off x="2350460" y="3575473"/>
              <a:ext cx="256350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/>
            <p:cNvCxnSpPr/>
            <p:nvPr/>
          </p:nvCxnSpPr>
          <p:spPr>
            <a:xfrm>
              <a:off x="2350459" y="4112644"/>
              <a:ext cx="256350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CaixaDeTexto 29"/>
                <p:cNvSpPr txBox="1"/>
                <p:nvPr/>
              </p:nvSpPr>
              <p:spPr>
                <a:xfrm>
                  <a:off x="4845586" y="2892010"/>
                  <a:ext cx="4884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0" name="CaixaDeTexto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5586" y="2892010"/>
                  <a:ext cx="48840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CaixaDeTexto 30"/>
                <p:cNvSpPr txBox="1"/>
                <p:nvPr/>
              </p:nvSpPr>
              <p:spPr>
                <a:xfrm>
                  <a:off x="4874419" y="3362507"/>
                  <a:ext cx="4884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1" name="CaixaDeTexto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419" y="3362507"/>
                  <a:ext cx="48840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CaixaDeTexto 31"/>
                <p:cNvSpPr txBox="1"/>
                <p:nvPr/>
              </p:nvSpPr>
              <p:spPr>
                <a:xfrm>
                  <a:off x="4859551" y="3898807"/>
                  <a:ext cx="4830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2" name="CaixaDeTexto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9551" y="3898807"/>
                  <a:ext cx="48308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Agrupar 9"/>
          <p:cNvGrpSpPr/>
          <p:nvPr/>
        </p:nvGrpSpPr>
        <p:grpSpPr>
          <a:xfrm>
            <a:off x="6350880" y="2335604"/>
            <a:ext cx="3271390" cy="3062638"/>
            <a:chOff x="6350880" y="2335604"/>
            <a:chExt cx="3271390" cy="3062638"/>
          </a:xfrm>
        </p:grpSpPr>
        <p:grpSp>
          <p:nvGrpSpPr>
            <p:cNvPr id="12" name="Agrupar 11"/>
            <p:cNvGrpSpPr/>
            <p:nvPr/>
          </p:nvGrpSpPr>
          <p:grpSpPr>
            <a:xfrm>
              <a:off x="6350880" y="2489624"/>
              <a:ext cx="3271390" cy="2908618"/>
              <a:chOff x="854688" y="1892300"/>
              <a:chExt cx="3271390" cy="2908618"/>
            </a:xfrm>
          </p:grpSpPr>
          <p:cxnSp>
            <p:nvCxnSpPr>
              <p:cNvPr id="13" name="Conector de Seta Reta 12"/>
              <p:cNvCxnSpPr/>
              <p:nvPr/>
            </p:nvCxnSpPr>
            <p:spPr>
              <a:xfrm flipV="1">
                <a:off x="1562573" y="1892300"/>
                <a:ext cx="1" cy="270856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ector de Seta Reta 13"/>
              <p:cNvCxnSpPr/>
              <p:nvPr/>
            </p:nvCxnSpPr>
            <p:spPr>
              <a:xfrm flipV="1">
                <a:off x="1347484" y="4398943"/>
                <a:ext cx="2778594" cy="439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CaixaDeTexto 14"/>
                  <p:cNvSpPr txBox="1"/>
                  <p:nvPr/>
                </p:nvSpPr>
                <p:spPr>
                  <a:xfrm rot="16200000">
                    <a:off x="182933" y="3066128"/>
                    <a:ext cx="2051395" cy="70788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pt-BR" sz="2000" dirty="0">
                        <a:latin typeface="Calibri" panose="020F0502020204030204" pitchFamily="34" charset="0"/>
                      </a:rPr>
                      <a:t>Retorno esperado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200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pt-BR" sz="200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pt-BR" sz="200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15" name="CaixaDeTexto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182933" y="3066128"/>
                    <a:ext cx="2051395" cy="70788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5172" t="-2679" r="-7759" b="-2976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CaixaDeTexto 15"/>
                  <p:cNvSpPr txBox="1"/>
                  <p:nvPr/>
                </p:nvSpPr>
                <p:spPr>
                  <a:xfrm>
                    <a:off x="2999488" y="4400808"/>
                    <a:ext cx="1126590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pt-BR" sz="2000" dirty="0">
                        <a:latin typeface="Calibri" panose="020F0502020204030204" pitchFamily="34" charset="0"/>
                      </a:rPr>
                      <a:t>Risco = </a:t>
                    </a:r>
                    <a14:m>
                      <m:oMath xmlns:m="http://schemas.openxmlformats.org/officeDocument/2006/math">
                        <m:r>
                          <a:rPr lang="pt-B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16" name="CaixaDeTexto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99488" y="4400808"/>
                    <a:ext cx="1126590" cy="4001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5978" t="-9091" b="-25758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7" name="Conector reto 26"/>
            <p:cNvCxnSpPr/>
            <p:nvPr/>
          </p:nvCxnSpPr>
          <p:spPr>
            <a:xfrm flipV="1">
              <a:off x="7721600" y="2717800"/>
              <a:ext cx="0" cy="22784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to 27"/>
            <p:cNvCxnSpPr/>
            <p:nvPr/>
          </p:nvCxnSpPr>
          <p:spPr>
            <a:xfrm flipV="1">
              <a:off x="8444880" y="2717800"/>
              <a:ext cx="0" cy="22784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to 28"/>
            <p:cNvCxnSpPr/>
            <p:nvPr/>
          </p:nvCxnSpPr>
          <p:spPr>
            <a:xfrm flipV="1">
              <a:off x="9168780" y="2717800"/>
              <a:ext cx="0" cy="22784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CaixaDeTexto 32"/>
                <p:cNvSpPr txBox="1"/>
                <p:nvPr/>
              </p:nvSpPr>
              <p:spPr>
                <a:xfrm>
                  <a:off x="7477399" y="2335604"/>
                  <a:ext cx="4884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3" name="CaixaDeTexto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7399" y="2335604"/>
                  <a:ext cx="48840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CaixaDeTexto 34"/>
                <p:cNvSpPr txBox="1"/>
                <p:nvPr/>
              </p:nvSpPr>
              <p:spPr>
                <a:xfrm>
                  <a:off x="8200679" y="2335604"/>
                  <a:ext cx="4884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5" name="CaixaDeTexto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0679" y="2335604"/>
                  <a:ext cx="48840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CaixaDeTexto 35"/>
                <p:cNvSpPr txBox="1"/>
                <p:nvPr/>
              </p:nvSpPr>
              <p:spPr>
                <a:xfrm>
                  <a:off x="8962024" y="2335604"/>
                  <a:ext cx="4830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6" name="CaixaDeTexto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2024" y="2335604"/>
                  <a:ext cx="483081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Conector reto 42"/>
          <p:cNvCxnSpPr/>
          <p:nvPr/>
        </p:nvCxnSpPr>
        <p:spPr>
          <a:xfrm flipV="1">
            <a:off x="3345180" y="3067473"/>
            <a:ext cx="0" cy="200457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lipse 43"/>
          <p:cNvSpPr/>
          <p:nvPr/>
        </p:nvSpPr>
        <p:spPr>
          <a:xfrm>
            <a:off x="2144933" y="2892010"/>
            <a:ext cx="391928" cy="369332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Elipse 44"/>
          <p:cNvSpPr/>
          <p:nvPr/>
        </p:nvSpPr>
        <p:spPr>
          <a:xfrm>
            <a:off x="2144933" y="3371709"/>
            <a:ext cx="391928" cy="369332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Elipse 45"/>
          <p:cNvSpPr/>
          <p:nvPr/>
        </p:nvSpPr>
        <p:spPr>
          <a:xfrm>
            <a:off x="2144933" y="3944805"/>
            <a:ext cx="391928" cy="369332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reto 46"/>
          <p:cNvCxnSpPr/>
          <p:nvPr/>
        </p:nvCxnSpPr>
        <p:spPr>
          <a:xfrm>
            <a:off x="7058765" y="3371709"/>
            <a:ext cx="2144799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7517299" y="4824465"/>
            <a:ext cx="391928" cy="369332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Elipse 49"/>
          <p:cNvSpPr/>
          <p:nvPr/>
        </p:nvSpPr>
        <p:spPr>
          <a:xfrm>
            <a:off x="8244338" y="4811601"/>
            <a:ext cx="391928" cy="369332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/>
          <p:cNvSpPr/>
          <p:nvPr/>
        </p:nvSpPr>
        <p:spPr>
          <a:xfrm>
            <a:off x="8972196" y="4811601"/>
            <a:ext cx="391928" cy="369332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993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9" grpId="0" animBg="1"/>
      <p:bldP spid="50" grpId="0" animBg="1"/>
      <p:bldP spid="5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9106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300" dirty="0"/>
              <a:t>Assim: Admita as seguintes opções de investimento, qual seria a melhor opção?</a:t>
            </a:r>
          </a:p>
        </p:txBody>
      </p:sp>
      <p:cxnSp>
        <p:nvCxnSpPr>
          <p:cNvPr id="18" name="Conector de Seta Reta 17"/>
          <p:cNvCxnSpPr/>
          <p:nvPr/>
        </p:nvCxnSpPr>
        <p:spPr>
          <a:xfrm flipV="1">
            <a:off x="2276743" y="2669078"/>
            <a:ext cx="1" cy="27085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/>
          <p:nvPr/>
        </p:nvCxnSpPr>
        <p:spPr>
          <a:xfrm flipV="1">
            <a:off x="2061654" y="5175721"/>
            <a:ext cx="2778594" cy="43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/>
              <p:cNvSpPr txBox="1"/>
              <p:nvPr/>
            </p:nvSpPr>
            <p:spPr>
              <a:xfrm rot="16200000">
                <a:off x="897103" y="3842906"/>
                <a:ext cx="2051395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2000" dirty="0">
                    <a:latin typeface="Calibri" panose="020F0502020204030204" pitchFamily="34" charset="0"/>
                  </a:rPr>
                  <a:t>Retorno esperado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20" name="CaixaDeTexto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97103" y="3842906"/>
                <a:ext cx="2051395" cy="707886"/>
              </a:xfrm>
              <a:prstGeom prst="rect">
                <a:avLst/>
              </a:prstGeom>
              <a:blipFill>
                <a:blip r:embed="rId2"/>
                <a:stretch>
                  <a:fillRect l="-4310" t="-2671" r="-8621" b="-26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/>
              <p:cNvSpPr txBox="1"/>
              <p:nvPr/>
            </p:nvSpPr>
            <p:spPr>
              <a:xfrm>
                <a:off x="3713658" y="5177586"/>
                <a:ext cx="112659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2000" dirty="0">
                    <a:latin typeface="Calibri" panose="020F0502020204030204" pitchFamily="34" charset="0"/>
                  </a:rPr>
                  <a:t>Risco = </a:t>
                </a:r>
                <a14:m>
                  <m:oMath xmlns:m="http://schemas.openxmlformats.org/officeDocument/2006/math">
                    <m:r>
                      <a:rPr lang="pt-B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21" name="CaixaDeTexto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3658" y="5177586"/>
                <a:ext cx="1126590" cy="400110"/>
              </a:xfrm>
              <a:prstGeom prst="rect">
                <a:avLst/>
              </a:prstGeom>
              <a:blipFill>
                <a:blip r:embed="rId3"/>
                <a:stretch>
                  <a:fillRect l="-5405" t="-7576" b="-257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Agrupar 35"/>
          <p:cNvGrpSpPr/>
          <p:nvPr/>
        </p:nvGrpSpPr>
        <p:grpSpPr>
          <a:xfrm>
            <a:off x="2" y="1011981"/>
            <a:ext cx="5115954" cy="2859829"/>
            <a:chOff x="2" y="1011981"/>
            <a:chExt cx="5115954" cy="2859829"/>
          </a:xfrm>
        </p:grpSpPr>
        <p:sp>
          <p:nvSpPr>
            <p:cNvPr id="22" name="Arco 21"/>
            <p:cNvSpPr/>
            <p:nvPr/>
          </p:nvSpPr>
          <p:spPr>
            <a:xfrm rot="6038289">
              <a:off x="1128064" y="-116081"/>
              <a:ext cx="2859829" cy="5115954"/>
            </a:xfrm>
            <a:prstGeom prst="arc">
              <a:avLst>
                <a:gd name="adj1" fmla="val 17202510"/>
                <a:gd name="adj2" fmla="val 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aixaDeTexto 14"/>
                <p:cNvSpPr txBox="1"/>
                <p:nvPr/>
              </p:nvSpPr>
              <p:spPr>
                <a:xfrm>
                  <a:off x="4571505" y="3270068"/>
                  <a:ext cx="4884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CaixaDeTexto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1505" y="3270068"/>
                  <a:ext cx="48840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Agrupar 34"/>
          <p:cNvGrpSpPr/>
          <p:nvPr/>
        </p:nvGrpSpPr>
        <p:grpSpPr>
          <a:xfrm>
            <a:off x="3" y="1455062"/>
            <a:ext cx="5115954" cy="2859829"/>
            <a:chOff x="3" y="1455062"/>
            <a:chExt cx="5115954" cy="2859829"/>
          </a:xfrm>
        </p:grpSpPr>
        <p:sp>
          <p:nvSpPr>
            <p:cNvPr id="23" name="Arco 22"/>
            <p:cNvSpPr/>
            <p:nvPr/>
          </p:nvSpPr>
          <p:spPr>
            <a:xfrm rot="6038289">
              <a:off x="1128065" y="327000"/>
              <a:ext cx="2859829" cy="5115954"/>
            </a:xfrm>
            <a:prstGeom prst="arc">
              <a:avLst>
                <a:gd name="adj1" fmla="val 17202510"/>
                <a:gd name="adj2" fmla="val 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aixaDeTexto 15"/>
                <p:cNvSpPr txBox="1"/>
                <p:nvPr/>
              </p:nvSpPr>
              <p:spPr>
                <a:xfrm>
                  <a:off x="4587217" y="3734069"/>
                  <a:ext cx="4884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CaixaDeTexto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7217" y="3734069"/>
                  <a:ext cx="48840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Agrupar 33"/>
          <p:cNvGrpSpPr/>
          <p:nvPr/>
        </p:nvGrpSpPr>
        <p:grpSpPr>
          <a:xfrm>
            <a:off x="0" y="1892371"/>
            <a:ext cx="5115954" cy="2859829"/>
            <a:chOff x="0" y="1892371"/>
            <a:chExt cx="5115954" cy="2859829"/>
          </a:xfrm>
        </p:grpSpPr>
        <p:sp>
          <p:nvSpPr>
            <p:cNvPr id="24" name="Arco 23"/>
            <p:cNvSpPr/>
            <p:nvPr/>
          </p:nvSpPr>
          <p:spPr>
            <a:xfrm rot="6038289">
              <a:off x="1128062" y="764309"/>
              <a:ext cx="2859829" cy="5115954"/>
            </a:xfrm>
            <a:prstGeom prst="arc">
              <a:avLst>
                <a:gd name="adj1" fmla="val 17202510"/>
                <a:gd name="adj2" fmla="val 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aixaDeTexto 16"/>
                <p:cNvSpPr txBox="1"/>
                <p:nvPr/>
              </p:nvSpPr>
              <p:spPr>
                <a:xfrm>
                  <a:off x="4596047" y="4157403"/>
                  <a:ext cx="4830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CaixaDeTexto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6047" y="4157403"/>
                  <a:ext cx="48308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Elipse 24"/>
          <p:cNvSpPr/>
          <p:nvPr/>
        </p:nvSpPr>
        <p:spPr>
          <a:xfrm>
            <a:off x="2701768" y="3827737"/>
            <a:ext cx="195622" cy="1956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/>
          <p:cNvSpPr/>
          <p:nvPr/>
        </p:nvSpPr>
        <p:spPr>
          <a:xfrm>
            <a:off x="4065605" y="3651323"/>
            <a:ext cx="195622" cy="19562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/>
          <p:cNvSpPr/>
          <p:nvPr/>
        </p:nvSpPr>
        <p:spPr>
          <a:xfrm>
            <a:off x="3450951" y="4221641"/>
            <a:ext cx="195622" cy="19562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/>
          <p:cNvSpPr/>
          <p:nvPr/>
        </p:nvSpPr>
        <p:spPr>
          <a:xfrm>
            <a:off x="2897390" y="4689679"/>
            <a:ext cx="195622" cy="1956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/>
          <p:cNvSpPr txBox="1"/>
          <p:nvPr/>
        </p:nvSpPr>
        <p:spPr>
          <a:xfrm>
            <a:off x="2640721" y="347761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004558" y="327231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3403958" y="386909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2841152" y="4364915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</a:t>
            </a:r>
          </a:p>
        </p:txBody>
      </p:sp>
      <p:sp>
        <p:nvSpPr>
          <p:cNvPr id="37" name="Espaço Reservado para Conteúdo 2"/>
          <p:cNvSpPr txBox="1">
            <a:spLocks/>
          </p:cNvSpPr>
          <p:nvPr/>
        </p:nvSpPr>
        <p:spPr>
          <a:xfrm>
            <a:off x="5741819" y="2937864"/>
            <a:ext cx="5365958" cy="197536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pt-BR" sz="2300" dirty="0"/>
              <a:t>As opções C e D estão em curvas de preferência inferiores então geram níveis de satisfação menores.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300" dirty="0"/>
              <a:t>As opções de A e B estão na  mesma curva de indiferença então são equivalentes. </a:t>
            </a:r>
          </a:p>
        </p:txBody>
      </p:sp>
    </p:spTree>
    <p:extLst>
      <p:ext uri="{BB962C8B-B14F-4D97-AF65-F5344CB8AC3E}">
        <p14:creationId xmlns:p14="http://schemas.microsoft.com/office/powerpoint/2010/main" val="2523190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95047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 O conceito de risco está associado ao conjunto de eventos que podem acontecer e suas respectivas probabilidades de ocorrência.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 O risco é formado por dois componentes: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 marL="201168" lvl="1" indent="0" algn="ctr">
              <a:buNone/>
            </a:pPr>
            <a:r>
              <a:rPr lang="pt-BR" sz="2600" dirty="0"/>
              <a:t>Risco Total = Risco Sistemático + Risco Não Sistemático  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775791" y="4340087"/>
            <a:ext cx="4890052" cy="1050788"/>
          </a:xfrm>
          <a:prstGeom prst="rect">
            <a:avLst/>
          </a:prstGeom>
          <a:ln>
            <a:solidFill>
              <a:srgbClr val="0070C0"/>
            </a:solidFill>
            <a:prstDash val="dash"/>
          </a:ln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pt-BR" sz="2200" dirty="0"/>
              <a:t>É inerente a todos os ativos negociados no mercado e é determinado pelos eventos de natureza econômica, política e social. </a:t>
            </a:r>
          </a:p>
        </p:txBody>
      </p:sp>
      <p:sp>
        <p:nvSpPr>
          <p:cNvPr id="8" name="Retângulo 7"/>
          <p:cNvSpPr/>
          <p:nvPr/>
        </p:nvSpPr>
        <p:spPr>
          <a:xfrm>
            <a:off x="4253948" y="3617843"/>
            <a:ext cx="2411895" cy="573156"/>
          </a:xfrm>
          <a:prstGeom prst="rect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6897757" y="3617843"/>
            <a:ext cx="3094382" cy="57315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Conteúdo 2"/>
          <p:cNvSpPr txBox="1">
            <a:spLocks/>
          </p:cNvSpPr>
          <p:nvPr/>
        </p:nvSpPr>
        <p:spPr>
          <a:xfrm>
            <a:off x="6897757" y="4340087"/>
            <a:ext cx="4923182" cy="672546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pt-BR" sz="2200" dirty="0"/>
              <a:t>É intrínseco às características próprias do investimento. </a:t>
            </a:r>
          </a:p>
        </p:txBody>
      </p:sp>
      <p:sp>
        <p:nvSpPr>
          <p:cNvPr id="11" name="Espaço Reservado para Conteúdo 2"/>
          <p:cNvSpPr txBox="1">
            <a:spLocks/>
          </p:cNvSpPr>
          <p:nvPr/>
        </p:nvSpPr>
        <p:spPr>
          <a:xfrm>
            <a:off x="7991061" y="5390875"/>
            <a:ext cx="2743200" cy="473764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pt-BR" sz="2200" dirty="0"/>
              <a:t>Diversificação</a:t>
            </a:r>
          </a:p>
          <a:p>
            <a:pPr marL="0" indent="0" algn="ctr">
              <a:buFont typeface="Calibri" panose="020F0502020204030204" pitchFamily="34" charset="0"/>
              <a:buNone/>
            </a:pPr>
            <a:r>
              <a:rPr lang="pt-BR" sz="2200" dirty="0"/>
              <a:t>Reduzido pela carteira </a:t>
            </a:r>
          </a:p>
        </p:txBody>
      </p:sp>
      <p:cxnSp>
        <p:nvCxnSpPr>
          <p:cNvPr id="13" name="Conector de Seta Reta 12"/>
          <p:cNvCxnSpPr>
            <a:stCxn id="10" idx="2"/>
            <a:endCxn id="11" idx="0"/>
          </p:cNvCxnSpPr>
          <p:nvPr/>
        </p:nvCxnSpPr>
        <p:spPr>
          <a:xfrm>
            <a:off x="9359348" y="5012633"/>
            <a:ext cx="3313" cy="378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36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grpSp>
        <p:nvGrpSpPr>
          <p:cNvPr id="73" name="Agrupar 72"/>
          <p:cNvGrpSpPr/>
          <p:nvPr/>
        </p:nvGrpSpPr>
        <p:grpSpPr>
          <a:xfrm>
            <a:off x="494713" y="2650254"/>
            <a:ext cx="735110" cy="2767143"/>
            <a:chOff x="494713" y="2650254"/>
            <a:chExt cx="735110" cy="2767143"/>
          </a:xfrm>
        </p:grpSpPr>
        <p:cxnSp>
          <p:nvCxnSpPr>
            <p:cNvPr id="4" name="Conector de Seta Reta 3"/>
            <p:cNvCxnSpPr/>
            <p:nvPr/>
          </p:nvCxnSpPr>
          <p:spPr>
            <a:xfrm flipV="1">
              <a:off x="1229822" y="2708834"/>
              <a:ext cx="1" cy="27085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CaixaDeTexto 5"/>
                <p:cNvSpPr txBox="1"/>
                <p:nvPr/>
              </p:nvSpPr>
              <p:spPr>
                <a:xfrm rot="16200000">
                  <a:off x="-177042" y="3322009"/>
                  <a:ext cx="2051395" cy="70788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pt-BR" sz="2000" dirty="0">
                      <a:latin typeface="Calibri" panose="020F0502020204030204" pitchFamily="34" charset="0"/>
                    </a:rPr>
                    <a:t>Retorno esperado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0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pt-BR" sz="20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0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pt-BR" sz="200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2000" dirty="0"/>
                </a:p>
              </p:txBody>
            </p:sp>
          </mc:Choice>
          <mc:Fallback>
            <p:sp>
              <p:nvSpPr>
                <p:cNvPr id="6" name="CaixaDeTexto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177042" y="3322009"/>
                  <a:ext cx="2051395" cy="707886"/>
                </a:xfrm>
                <a:prstGeom prst="rect">
                  <a:avLst/>
                </a:prstGeom>
                <a:blipFill>
                  <a:blip r:embed="rId2"/>
                  <a:stretch>
                    <a:fillRect l="-4310" t="-2679" r="-8621" b="-297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4" name="Agrupar 73"/>
          <p:cNvGrpSpPr/>
          <p:nvPr/>
        </p:nvGrpSpPr>
        <p:grpSpPr>
          <a:xfrm>
            <a:off x="1014733" y="5217342"/>
            <a:ext cx="8182276" cy="498864"/>
            <a:chOff x="1014733" y="5217342"/>
            <a:chExt cx="8182276" cy="498864"/>
          </a:xfrm>
        </p:grpSpPr>
        <p:cxnSp>
          <p:nvCxnSpPr>
            <p:cNvPr id="5" name="Conector de Seta Reta 4"/>
            <p:cNvCxnSpPr/>
            <p:nvPr/>
          </p:nvCxnSpPr>
          <p:spPr>
            <a:xfrm flipV="1">
              <a:off x="1014733" y="5217342"/>
              <a:ext cx="8182276" cy="25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CaixaDeTexto 6"/>
                <p:cNvSpPr txBox="1"/>
                <p:nvPr/>
              </p:nvSpPr>
              <p:spPr>
                <a:xfrm>
                  <a:off x="8070419" y="5316096"/>
                  <a:ext cx="1126590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pt-BR" sz="2000" dirty="0">
                      <a:latin typeface="Calibri" panose="020F0502020204030204" pitchFamily="34" charset="0"/>
                    </a:rPr>
                    <a:t>Risco = </a:t>
                  </a:r>
                  <a14:m>
                    <m:oMath xmlns:m="http://schemas.openxmlformats.org/officeDocument/2006/math">
                      <m:r>
                        <a:rPr lang="pt-B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a14:m>
                  <a:endParaRPr lang="pt-BR" sz="2000" dirty="0"/>
                </a:p>
              </p:txBody>
            </p:sp>
          </mc:Choice>
          <mc:Fallback>
            <p:sp>
              <p:nvSpPr>
                <p:cNvPr id="7" name="CaixaDeTexto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0419" y="5316096"/>
                  <a:ext cx="1126590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5946" t="-7576" b="-2575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" name="Conector reto 9"/>
          <p:cNvCxnSpPr/>
          <p:nvPr/>
        </p:nvCxnSpPr>
        <p:spPr>
          <a:xfrm flipV="1">
            <a:off x="1229822" y="3074504"/>
            <a:ext cx="7225066" cy="14842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 flipV="1">
            <a:off x="2345636" y="4346713"/>
            <a:ext cx="0" cy="87062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 flipV="1">
            <a:off x="6417233" y="3513768"/>
            <a:ext cx="1" cy="176327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aixaDeTexto 21"/>
              <p:cNvSpPr txBox="1"/>
              <p:nvPr/>
            </p:nvSpPr>
            <p:spPr>
              <a:xfrm>
                <a:off x="836011" y="4346444"/>
                <a:ext cx="488402" cy="391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2" name="CaixaDeTexto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011" y="4346444"/>
                <a:ext cx="488402" cy="39158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aixaDeTexto 22"/>
          <p:cNvSpPr txBox="1"/>
          <p:nvPr/>
        </p:nvSpPr>
        <p:spPr>
          <a:xfrm>
            <a:off x="7451248" y="2318504"/>
            <a:ext cx="3120470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latin typeface="Calibri" panose="020F0502020204030204" pitchFamily="34" charset="0"/>
              </a:rPr>
              <a:t>Reta de mercado de capitais</a:t>
            </a:r>
          </a:p>
          <a:p>
            <a:pPr algn="ctr"/>
            <a:r>
              <a:rPr lang="pt-BR" sz="2000" i="1" dirty="0">
                <a:latin typeface="Calibri" panose="020F0502020204030204" pitchFamily="34" charset="0"/>
              </a:rPr>
              <a:t>Capital Market </a:t>
            </a:r>
            <a:r>
              <a:rPr lang="pt-BR" sz="2000" i="1" dirty="0" err="1">
                <a:latin typeface="Calibri" panose="020F0502020204030204" pitchFamily="34" charset="0"/>
              </a:rPr>
              <a:t>Line</a:t>
            </a:r>
            <a:r>
              <a:rPr lang="pt-BR" sz="2000" dirty="0">
                <a:latin typeface="Calibri" panose="020F0502020204030204" pitchFamily="34" charset="0"/>
              </a:rPr>
              <a:t> (CML)</a:t>
            </a:r>
            <a:endParaRPr lang="pt-BR" sz="2000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1309449" y="4446041"/>
            <a:ext cx="106370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Calibri" panose="020F0502020204030204" pitchFamily="34" charset="0"/>
              </a:rPr>
              <a:t>Títulos públicos renda fixa</a:t>
            </a:r>
            <a:endParaRPr lang="pt-BR" sz="1600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2415829" y="4296678"/>
            <a:ext cx="106370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Calibri" panose="020F0502020204030204" pitchFamily="34" charset="0"/>
              </a:rPr>
              <a:t>Títulos privados renda fixa</a:t>
            </a:r>
            <a:endParaRPr lang="pt-BR" sz="1600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3764829" y="4246109"/>
            <a:ext cx="1063705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Calibri" panose="020F0502020204030204" pitchFamily="34" charset="0"/>
              </a:rPr>
              <a:t>Bens imóveis</a:t>
            </a:r>
            <a:endParaRPr lang="pt-BR" sz="1600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5017827" y="3887608"/>
            <a:ext cx="1422505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Calibri" panose="020F0502020204030204" pitchFamily="34" charset="0"/>
              </a:rPr>
              <a:t>Ações internacionais</a:t>
            </a:r>
            <a:endParaRPr lang="pt-BR" sz="1600" dirty="0"/>
          </a:p>
        </p:txBody>
      </p:sp>
      <p:sp>
        <p:nvSpPr>
          <p:cNvPr id="32" name="CaixaDeTexto 31"/>
          <p:cNvSpPr txBox="1"/>
          <p:nvPr/>
        </p:nvSpPr>
        <p:spPr>
          <a:xfrm>
            <a:off x="6369269" y="3710170"/>
            <a:ext cx="1422505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Calibri" panose="020F0502020204030204" pitchFamily="34" charset="0"/>
              </a:rPr>
              <a:t>Ações nacionais</a:t>
            </a:r>
            <a:endParaRPr lang="pt-BR" sz="1600" dirty="0"/>
          </a:p>
        </p:txBody>
      </p:sp>
      <p:cxnSp>
        <p:nvCxnSpPr>
          <p:cNvPr id="33" name="Conector reto 32"/>
          <p:cNvCxnSpPr/>
          <p:nvPr/>
        </p:nvCxnSpPr>
        <p:spPr>
          <a:xfrm flipV="1">
            <a:off x="7670231" y="3257225"/>
            <a:ext cx="18688" cy="190294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>
            <a:off x="7579251" y="3662056"/>
            <a:ext cx="1422505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Calibri" panose="020F0502020204030204" pitchFamily="34" charset="0"/>
              </a:rPr>
              <a:t>Capital de risco</a:t>
            </a:r>
            <a:endParaRPr lang="pt-BR" sz="1600" dirty="0"/>
          </a:p>
        </p:txBody>
      </p:sp>
      <p:sp>
        <p:nvSpPr>
          <p:cNvPr id="44" name="Elipse 43"/>
          <p:cNvSpPr/>
          <p:nvPr/>
        </p:nvSpPr>
        <p:spPr>
          <a:xfrm>
            <a:off x="6205935" y="5047404"/>
            <a:ext cx="391928" cy="369332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Elipse 44"/>
          <p:cNvSpPr/>
          <p:nvPr/>
        </p:nvSpPr>
        <p:spPr>
          <a:xfrm>
            <a:off x="7483611" y="5041547"/>
            <a:ext cx="391928" cy="369332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6" name="Conector reto 45"/>
          <p:cNvCxnSpPr/>
          <p:nvPr/>
        </p:nvCxnSpPr>
        <p:spPr>
          <a:xfrm flipH="1">
            <a:off x="1237515" y="3486034"/>
            <a:ext cx="5131755" cy="40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/>
          <p:nvPr/>
        </p:nvCxnSpPr>
        <p:spPr>
          <a:xfrm flipH="1" flipV="1">
            <a:off x="1237515" y="3210267"/>
            <a:ext cx="6320539" cy="1976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Agrupar 79"/>
          <p:cNvGrpSpPr/>
          <p:nvPr/>
        </p:nvGrpSpPr>
        <p:grpSpPr>
          <a:xfrm>
            <a:off x="1150423" y="3989400"/>
            <a:ext cx="2611854" cy="1412608"/>
            <a:chOff x="1150423" y="3989400"/>
            <a:chExt cx="2611854" cy="1412608"/>
          </a:xfrm>
        </p:grpSpPr>
        <p:cxnSp>
          <p:nvCxnSpPr>
            <p:cNvPr id="14" name="Conector reto 13"/>
            <p:cNvCxnSpPr/>
            <p:nvPr/>
          </p:nvCxnSpPr>
          <p:spPr>
            <a:xfrm flipH="1">
              <a:off x="3565755" y="4111945"/>
              <a:ext cx="9781" cy="110539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Elipse 36"/>
            <p:cNvSpPr/>
            <p:nvPr/>
          </p:nvSpPr>
          <p:spPr>
            <a:xfrm>
              <a:off x="3370349" y="5032676"/>
              <a:ext cx="391928" cy="369332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8" name="Conector reto 37"/>
            <p:cNvCxnSpPr/>
            <p:nvPr/>
          </p:nvCxnSpPr>
          <p:spPr>
            <a:xfrm flipH="1">
              <a:off x="1202599" y="4063115"/>
              <a:ext cx="2363156" cy="3239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Elipse 53"/>
            <p:cNvSpPr/>
            <p:nvPr/>
          </p:nvSpPr>
          <p:spPr>
            <a:xfrm>
              <a:off x="1150423" y="3989400"/>
              <a:ext cx="159026" cy="15902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1" name="Agrupar 80"/>
          <p:cNvGrpSpPr/>
          <p:nvPr/>
        </p:nvGrpSpPr>
        <p:grpSpPr>
          <a:xfrm>
            <a:off x="1171050" y="3678612"/>
            <a:ext cx="4017090" cy="1748422"/>
            <a:chOff x="1171050" y="3678612"/>
            <a:chExt cx="4017090" cy="1748422"/>
          </a:xfrm>
        </p:grpSpPr>
        <p:cxnSp>
          <p:nvCxnSpPr>
            <p:cNvPr id="16" name="Conector reto 15"/>
            <p:cNvCxnSpPr/>
            <p:nvPr/>
          </p:nvCxnSpPr>
          <p:spPr>
            <a:xfrm flipH="1" flipV="1">
              <a:off x="4994728" y="3816626"/>
              <a:ext cx="3313" cy="1400716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/>
            <p:nvPr/>
          </p:nvCxnSpPr>
          <p:spPr>
            <a:xfrm flipH="1" flipV="1">
              <a:off x="1237515" y="3758125"/>
              <a:ext cx="3694253" cy="2463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Elipse 42"/>
            <p:cNvSpPr/>
            <p:nvPr/>
          </p:nvSpPr>
          <p:spPr>
            <a:xfrm>
              <a:off x="4796212" y="5057702"/>
              <a:ext cx="391928" cy="369332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5" name="Elipse 54"/>
            <p:cNvSpPr/>
            <p:nvPr/>
          </p:nvSpPr>
          <p:spPr>
            <a:xfrm>
              <a:off x="1171050" y="3678612"/>
              <a:ext cx="159026" cy="15902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6" name="Elipse 55"/>
          <p:cNvSpPr/>
          <p:nvPr/>
        </p:nvSpPr>
        <p:spPr>
          <a:xfrm>
            <a:off x="1150423" y="3395240"/>
            <a:ext cx="159026" cy="15902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Elipse 56"/>
          <p:cNvSpPr/>
          <p:nvPr/>
        </p:nvSpPr>
        <p:spPr>
          <a:xfrm>
            <a:off x="1158001" y="3123497"/>
            <a:ext cx="159026" cy="15902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Chave Direita 58"/>
          <p:cNvSpPr/>
          <p:nvPr/>
        </p:nvSpPr>
        <p:spPr>
          <a:xfrm>
            <a:off x="8822027" y="3159109"/>
            <a:ext cx="199646" cy="13523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2" name="Agrupar 71"/>
          <p:cNvGrpSpPr/>
          <p:nvPr/>
        </p:nvGrpSpPr>
        <p:grpSpPr>
          <a:xfrm>
            <a:off x="8839200" y="4568612"/>
            <a:ext cx="1534699" cy="665361"/>
            <a:chOff x="8839200" y="4568612"/>
            <a:chExt cx="1534699" cy="665361"/>
          </a:xfrm>
        </p:grpSpPr>
        <p:sp>
          <p:nvSpPr>
            <p:cNvPr id="58" name="Chave Direita 57"/>
            <p:cNvSpPr/>
            <p:nvPr/>
          </p:nvSpPr>
          <p:spPr>
            <a:xfrm>
              <a:off x="8839200" y="4568612"/>
              <a:ext cx="162556" cy="59155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1" name="CaixaDeTexto 60"/>
            <p:cNvSpPr txBox="1"/>
            <p:nvPr/>
          </p:nvSpPr>
          <p:spPr>
            <a:xfrm>
              <a:off x="8951394" y="4649198"/>
              <a:ext cx="1422505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>
                  <a:latin typeface="Calibri" panose="020F0502020204030204" pitchFamily="34" charset="0"/>
                </a:rPr>
                <a:t>Risco sistemático</a:t>
              </a:r>
              <a:endParaRPr lang="pt-BR" sz="1600" dirty="0"/>
            </a:p>
          </p:txBody>
        </p:sp>
      </p:grpSp>
      <p:sp>
        <p:nvSpPr>
          <p:cNvPr id="62" name="CaixaDeTexto 61"/>
          <p:cNvSpPr txBox="1"/>
          <p:nvPr/>
        </p:nvSpPr>
        <p:spPr>
          <a:xfrm>
            <a:off x="9039763" y="3554266"/>
            <a:ext cx="1422505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Calibri" panose="020F0502020204030204" pitchFamily="34" charset="0"/>
              </a:rPr>
              <a:t>Risco Diversificável</a:t>
            </a:r>
            <a:endParaRPr lang="pt-BR" sz="1600" dirty="0"/>
          </a:p>
        </p:txBody>
      </p:sp>
      <p:grpSp>
        <p:nvGrpSpPr>
          <p:cNvPr id="64" name="Agrupar 63"/>
          <p:cNvGrpSpPr/>
          <p:nvPr/>
        </p:nvGrpSpPr>
        <p:grpSpPr>
          <a:xfrm>
            <a:off x="10185451" y="3281929"/>
            <a:ext cx="2062311" cy="806387"/>
            <a:chOff x="2056942" y="1515491"/>
            <a:chExt cx="8078114" cy="3158634"/>
          </a:xfrm>
        </p:grpSpPr>
        <p:sp>
          <p:nvSpPr>
            <p:cNvPr id="65" name="Sinal de Subtração 64"/>
            <p:cNvSpPr/>
            <p:nvPr/>
          </p:nvSpPr>
          <p:spPr>
            <a:xfrm rot="19027872">
              <a:off x="2056942" y="2966465"/>
              <a:ext cx="8078114" cy="925067"/>
            </a:xfrm>
            <a:prstGeom prst="mathMinus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6" name="Seta: para Baixo 65"/>
            <p:cNvSpPr/>
            <p:nvPr/>
          </p:nvSpPr>
          <p:spPr>
            <a:xfrm>
              <a:off x="3469878" y="1515491"/>
              <a:ext cx="2438400" cy="2167467"/>
            </a:xfrm>
            <a:prstGeom prst="downArrow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8" name="Seta: para Cima 67"/>
            <p:cNvSpPr/>
            <p:nvPr/>
          </p:nvSpPr>
          <p:spPr>
            <a:xfrm>
              <a:off x="6587971" y="2506658"/>
              <a:ext cx="2438400" cy="2167467"/>
            </a:xfrm>
            <a:prstGeom prst="upArrow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70" name="CaixaDeTexto 69"/>
          <p:cNvSpPr txBox="1"/>
          <p:nvPr/>
        </p:nvSpPr>
        <p:spPr>
          <a:xfrm>
            <a:off x="10134175" y="2950195"/>
            <a:ext cx="142250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Calibri" panose="020F0502020204030204" pitchFamily="34" charset="0"/>
              </a:rPr>
              <a:t>Risco</a:t>
            </a:r>
            <a:endParaRPr lang="pt-BR" sz="1600" dirty="0"/>
          </a:p>
        </p:txBody>
      </p:sp>
      <p:sp>
        <p:nvSpPr>
          <p:cNvPr id="71" name="CaixaDeTexto 70"/>
          <p:cNvSpPr txBox="1"/>
          <p:nvPr/>
        </p:nvSpPr>
        <p:spPr>
          <a:xfrm>
            <a:off x="10965399" y="4083894"/>
            <a:ext cx="142250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Calibri" panose="020F0502020204030204" pitchFamily="34" charset="0"/>
              </a:rPr>
              <a:t>Retorno</a:t>
            </a:r>
            <a:endParaRPr lang="pt-BR" sz="1600" dirty="0"/>
          </a:p>
        </p:txBody>
      </p:sp>
      <p:grpSp>
        <p:nvGrpSpPr>
          <p:cNvPr id="79" name="Agrupar 78"/>
          <p:cNvGrpSpPr/>
          <p:nvPr/>
        </p:nvGrpSpPr>
        <p:grpSpPr>
          <a:xfrm>
            <a:off x="1158001" y="4274195"/>
            <a:ext cx="7475713" cy="1136684"/>
            <a:chOff x="1158001" y="4274195"/>
            <a:chExt cx="7475713" cy="1136684"/>
          </a:xfrm>
        </p:grpSpPr>
        <p:cxnSp>
          <p:nvCxnSpPr>
            <p:cNvPr id="27" name="Conector reto 26"/>
            <p:cNvCxnSpPr/>
            <p:nvPr/>
          </p:nvCxnSpPr>
          <p:spPr>
            <a:xfrm flipH="1">
              <a:off x="1229822" y="4568612"/>
              <a:ext cx="7403892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Elipse 50"/>
            <p:cNvSpPr/>
            <p:nvPr/>
          </p:nvSpPr>
          <p:spPr>
            <a:xfrm>
              <a:off x="2145222" y="5041547"/>
              <a:ext cx="391928" cy="369332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5" name="Conector reto 74"/>
            <p:cNvCxnSpPr/>
            <p:nvPr/>
          </p:nvCxnSpPr>
          <p:spPr>
            <a:xfrm flipH="1" flipV="1">
              <a:off x="1217083" y="4346444"/>
              <a:ext cx="1109139" cy="993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Elipse 77"/>
            <p:cNvSpPr/>
            <p:nvPr/>
          </p:nvSpPr>
          <p:spPr>
            <a:xfrm>
              <a:off x="1158001" y="4274195"/>
              <a:ext cx="159026" cy="15902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148626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Risco e Retorno	</a:t>
            </a:r>
          </a:p>
        </p:txBody>
      </p:sp>
      <p:sp>
        <p:nvSpPr>
          <p:cNvPr id="5" name="Espaço Reservado para Imagem 4"/>
          <p:cNvSpPr>
            <a:spLocks noGrp="1"/>
          </p:cNvSpPr>
          <p:nvPr>
            <p:ph type="pic" idx="1"/>
          </p:nvPr>
        </p:nvSpPr>
        <p:spPr/>
      </p:sp>
      <p:sp>
        <p:nvSpPr>
          <p:cNvPr id="6" name="Espaço Reservado para Texto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Ana Carolina </a:t>
            </a:r>
            <a:r>
              <a:rPr lang="pt-BR" dirty="0" err="1"/>
              <a:t>Rosolen</a:t>
            </a:r>
            <a:r>
              <a:rPr lang="pt-BR" dirty="0"/>
              <a:t> de Arruda (carol.rarruda@gmail.com)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4642295" y="2219863"/>
            <a:ext cx="32817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dirty="0"/>
              <a:t>Obrigada!</a:t>
            </a:r>
          </a:p>
        </p:txBody>
      </p:sp>
    </p:spTree>
    <p:extLst>
      <p:ext uri="{BB962C8B-B14F-4D97-AF65-F5344CB8AC3E}">
        <p14:creationId xmlns:p14="http://schemas.microsoft.com/office/powerpoint/2010/main" val="88814837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824</TotalTime>
  <Words>1230</Words>
  <Application>Microsoft Office PowerPoint</Application>
  <PresentationFormat>Widescreen</PresentationFormat>
  <Paragraphs>348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Calibri</vt:lpstr>
      <vt:lpstr>Calibri Light</vt:lpstr>
      <vt:lpstr>Cambria Math</vt:lpstr>
      <vt:lpstr>Wingdings</vt:lpstr>
      <vt:lpstr>Retrospectiva</vt:lpstr>
      <vt:lpstr>RISCO e RETORNO</vt:lpstr>
      <vt:lpstr>Bibliografia utilizada</vt:lpstr>
      <vt:lpstr>Decisões fundamentais das finanças corporativas</vt:lpstr>
      <vt:lpstr>Conceito de Risco</vt:lpstr>
      <vt:lpstr>Fundamentos de probabilidade e medidas estatísticas</vt:lpstr>
      <vt:lpstr>Retorno esperado</vt:lpstr>
      <vt:lpstr>Retorno esperado</vt:lpstr>
      <vt:lpstr>Gráfico de distribuição das probabilidades</vt:lpstr>
      <vt:lpstr>Apresentação do PowerPoint</vt:lpstr>
      <vt:lpstr>Desvio-padrão  e variância (Risco)</vt:lpstr>
      <vt:lpstr>Desvio-padrão e variância do investimento B</vt:lpstr>
      <vt:lpstr>Desvio-padrão e variância do investimento B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Risco e Retorno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RISCO e RETORNO</dc:title>
  <dc:creator>Ana Carolina Arruda</dc:creator>
  <cp:lastModifiedBy>Ana Carolina Arruda</cp:lastModifiedBy>
  <cp:revision>62</cp:revision>
  <dcterms:created xsi:type="dcterms:W3CDTF">2016-08-18T02:47:50Z</dcterms:created>
  <dcterms:modified xsi:type="dcterms:W3CDTF">2016-08-18T16:37:06Z</dcterms:modified>
</cp:coreProperties>
</file>